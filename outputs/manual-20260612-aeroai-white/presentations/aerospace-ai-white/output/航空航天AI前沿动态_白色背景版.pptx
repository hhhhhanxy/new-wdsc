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06c69f948497f" /><Relationship Type="http://schemas.openxmlformats.org/officeDocument/2006/relationships/extended-properties" Target="/docProps/app.xml" Id="R1447889a73ea4f28" /><Relationship Type="http://schemas.openxmlformats.org/officeDocument/2006/relationships/officeDocument" Target="/ppt/presentation.xml" Id="R10111fa01ab748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cdc99e019b4eb1"/>
  </p:sldMasterIdLst>
  <p:notesMasterIdLst>
    <p:notesMasterId xmlns:r="http://schemas.openxmlformats.org/officeDocument/2006/relationships" r:id="R16f0f45d397240f6"/>
  </p:notesMasterIdLst>
  <p:sldIdLst>
    <p:sldId xmlns:r="http://schemas.openxmlformats.org/officeDocument/2006/relationships" id="256" r:id="Rf90f80947b8f46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c52c7d9dd946dd" /><Relationship Type="http://schemas.openxmlformats.org/officeDocument/2006/relationships/slideMaster" Target="/ppt/slideMasters/slideMaster1.xml" Id="Rb3cdc99e019b4eb1" /><Relationship Type="http://schemas.openxmlformats.org/officeDocument/2006/relationships/notesMaster" Target="/ppt/notesMasters/notesMaster1.xml" Id="R16f0f45d397240f6" /><Relationship Type="http://schemas.openxmlformats.org/officeDocument/2006/relationships/presProps" Target="/ppt/presProps.xml" Id="Rf0038f2072764859" /><Relationship Type="http://schemas.openxmlformats.org/officeDocument/2006/relationships/viewProps" Target="/ppt/viewProps.xml" Id="R8b62c74ab8a343f8" /><Relationship Type="http://schemas.openxmlformats.org/officeDocument/2006/relationships/tableStyles" Target="/ppt/tableStyles.xml" Id="Rf02dd07ead3243ac" /><Relationship Type="http://schemas.openxmlformats.org/officeDocument/2006/relationships/slide" Target="/ppt/slides/slide1.xml" Id="Rf90f80947b8f46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c45da852fa4f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6ebdd02efe4814" /><Relationship Type="http://schemas.openxmlformats.org/officeDocument/2006/relationships/notesMaster" Target="/ppt/notesMasters/notesMaster1.xml" Id="R0a44592993284a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9fb077bdf40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9b02022af34460" /><Relationship Type="http://schemas.openxmlformats.org/officeDocument/2006/relationships/slideLayout" Target="/ppt/slideLayouts/slideLayout1.xml" Id="Re50cfb9bb5c64c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0cfb9bb5c64c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7f9339b5c4842" /><Relationship Type="http://schemas.openxmlformats.org/officeDocument/2006/relationships/image" Target="/ppt/media/image.jpeg" Id="R440b3b17e3d544ea" /><Relationship Type="http://schemas.openxmlformats.org/officeDocument/2006/relationships/image" Target="/ppt/media/image.png" Id="Rc487bdaba27541bf" /><Relationship Type="http://schemas.openxmlformats.org/officeDocument/2006/relationships/image" Target="/ppt/media/image2.png" Id="Rd3d055ac7f1846f5" /><Relationship Type="http://schemas.openxmlformats.org/officeDocument/2006/relationships/image" Target="/ppt/media/image3.png" Id="Ree8bf4895d164b8c" /><Relationship Type="http://schemas.openxmlformats.org/officeDocument/2006/relationships/notesSlide" Target="/ppt/notesSlides/notesSlide1.xml" Id="R4bba945dbc6f4b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4E64C41-C9FC-410A-ADAC-D7ACAA20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53351B51-02B3-4A6F-84A9-696DB703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E5"/>
          </a:solidFill>
          <a:ln xmlns:a="http://schemas.openxmlformats.org/drawingml/2006/main" w="0">
            <a:solidFill>
              <a:srgbClr val="1597E5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929B0E-1778-4F59-B13B-FB9F1876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E5"/>
          </a:solidFill>
          <a:ln xmlns:a="http://schemas.openxmlformats.org/drawingml/2006/main" w="0">
            <a:solidFill>
              <a:srgbClr val="1597E5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152890-E4F4-4DD0-80A7-9874E738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000"/>
            <a:ext cx="2667000" cy="23812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D4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5C9"/>
                </a:solidFill>
                <a:latin typeface="Arial"/>
                <a:ea typeface="Arial"/>
                <a:cs typeface="Arial"/>
              </a:rPr>
              <a:t>FRONTIER RADAR  · 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FF9B4-B827-4C93-8661-8AE4764C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5325"/>
            <a:ext cx="10668000" cy="5238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航空航天 AI 正从“辅助判断”迈向“自主执行”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1A963-9931-4394-8D89-D3795491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287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A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7388"/>
                </a:solidFill>
                <a:latin typeface="Microsoft YaHei"/>
                <a:ea typeface="Microsoft YaHei"/>
                <a:cs typeface="Microsoft YaHei"/>
              </a:rPr>
              <a:t>四个信号显示：算法正在离开地面云端，进入机载、星载与行星表面的实时闭环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25D70-E022-4D59-8A6F-82EAB37B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4800"/>
            <a:ext cx="4953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9AB2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7388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8" name="progress-1">
            <a:extLst xmlns:a="http://schemas.openxmlformats.org/drawingml/2006/main">
              <a:ext uri="{FF2B5EF4-FFF2-40B4-BE49-F238E27FC236}">
                <a16:creationId xmlns:a16="http://schemas.microsoft.com/office/drawing/2014/main" id="{7FBFA76C-1EB3-423C-A4CF-D0074156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95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solidFill>
              <a:srgbClr val="C8D7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D0950-C219-4C40-8B0A-AC33BF6B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4800"/>
            <a:ext cx="4953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8D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875C9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D799007D-83BE-4D67-9657-B3ECBAB3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6670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b3b17e3d544ea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62125"/>
            <a:ext cx="2667000" cy="1666875"/>
          </a:xfrm>
          <a:prstGeom xmlns:a="http://schemas.openxmlformats.org/drawingml/2006/main" prst="rect">
            <a:avLst/>
          </a:prstGeom>
        </p:spPr>
      </p:pic>
      <p:sp>
        <p:nvSpPr>
          <p:cNvPr id="12" name="image-rule-1">
            <a:extLst xmlns:a="http://schemas.openxmlformats.org/drawingml/2006/main">
              <a:ext uri="{FF2B5EF4-FFF2-40B4-BE49-F238E27FC236}">
                <a16:creationId xmlns:a16="http://schemas.microsoft.com/office/drawing/2014/main" id="{83B4491E-B730-4178-9649-41F0BEE0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E5"/>
          </a:solidFill>
          <a:ln xmlns:a="http://schemas.openxmlformats.org/drawingml/2006/main" w="0">
            <a:solidFill>
              <a:srgbClr val="1597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BF39A-8482-40BB-8635-2638222B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81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D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5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B4E4-C5B5-407B-9C50-6BCB461E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90925"/>
            <a:ext cx="857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B2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7388"/>
                </a:solidFill>
                <a:latin typeface="Arial"/>
                <a:ea typeface="Arial"/>
                <a:cs typeface="Arial"/>
              </a:rPr>
              <a:t>2026.01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8313C-DC41-4E93-8509-22AAD62E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D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75C9"/>
                </a:solidFill>
                <a:latin typeface="Microsoft YaHei"/>
                <a:ea typeface="Microsoft YaHei"/>
                <a:cs typeface="Microsoft YaHei"/>
              </a:rPr>
              <a:t>太空智驾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1A9DC-5457-413B-84E6-FAC23B71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3336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AB2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7388"/>
                </a:solidFill>
                <a:latin typeface="Arial"/>
                <a:ea typeface="Arial"/>
                <a:cs typeface="Arial"/>
              </a:rPr>
              <a:t>NASA · Perseverance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55912-0676-4C95-B6A3-4AB8C069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67225"/>
            <a:ext cx="23622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生成式 AI 首次规划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火星车实际行驶路线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DC5DC-64C2-446D-A4EC-2BCC095E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2362200" cy="4476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7D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3F566D"/>
                </a:solidFill>
                <a:latin typeface="Microsoft YaHei"/>
                <a:ea typeface="Microsoft YaHei"/>
                <a:cs typeface="Microsoft YaHei"/>
              </a:rPr>
              <a:t>从轨道影像识别地形并生成航点，完成两次实地行驶；深空任务开始把“规划权”前移。</a:t>
            </a:r>
          </a:p>
        </p:txBody>
      </p:sp>
      <p:sp>
        <p:nvSpPr>
          <p:cNvPr id="19" name="impact-rule-1">
            <a:extLst xmlns:a="http://schemas.openxmlformats.org/drawingml/2006/main">
              <a:ext uri="{FF2B5EF4-FFF2-40B4-BE49-F238E27FC236}">
                <a16:creationId xmlns:a16="http://schemas.microsoft.com/office/drawing/2014/main" id="{853D5B29-8D70-42A1-ABCA-99DA9BCE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E5"/>
          </a:solidFill>
          <a:ln xmlns:a="http://schemas.openxmlformats.org/drawingml/2006/main" w="0">
            <a:solidFill>
              <a:srgbClr val="1597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5C89F-C49D-436B-BEA0-04F2E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0225"/>
            <a:ext cx="223837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价值：缩短地火通信等待，提升任务自主性</a:t>
            </a:r>
          </a:p>
        </p:txBody>
      </p:sp>
      <p:sp>
        <p:nvSpPr>
          <p:cNvPr id="21" name="panel-2">
            <a:extLst xmlns:a="http://schemas.openxmlformats.org/drawingml/2006/main">
              <a:ext uri="{FF2B5EF4-FFF2-40B4-BE49-F238E27FC236}">
                <a16:creationId xmlns:a16="http://schemas.microsoft.com/office/drawing/2014/main" id="{C4D1C238-3594-4C22-ACF7-A84C4044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62125"/>
            <a:ext cx="26670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EDF4FA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7bdaba27541bf"/>
          <a:srcRect xmlns:a="http://schemas.openxmlformats.org/drawingml/2006/main" l="4976" t="0" r="4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52800" y="1762125"/>
            <a:ext cx="2667000" cy="1666875"/>
          </a:xfrm>
          <a:prstGeom xmlns:a="http://schemas.openxmlformats.org/drawingml/2006/main" prst="rect">
            <a:avLst/>
          </a:prstGeom>
        </p:spPr>
      </p:pic>
      <p:sp>
        <p:nvSpPr>
          <p:cNvPr id="23" name="image-rule-2">
            <a:extLst xmlns:a="http://schemas.openxmlformats.org/drawingml/2006/main">
              <a:ext uri="{FF2B5EF4-FFF2-40B4-BE49-F238E27FC236}">
                <a16:creationId xmlns:a16="http://schemas.microsoft.com/office/drawing/2014/main" id="{C4A58F34-9137-48B6-A34A-DBED404E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909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FEA"/>
          </a:solidFill>
          <a:ln xmlns:a="http://schemas.openxmlformats.org/drawingml/2006/main" w="0">
            <a:solidFill>
              <a:srgbClr val="356F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533D8-C929-4FF6-9B17-989565F2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62350"/>
            <a:ext cx="381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D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5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299044-74EB-4973-9A45-D8D25910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90925"/>
            <a:ext cx="857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B2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7388"/>
                </a:solidFill>
                <a:latin typeface="Arial"/>
                <a:ea typeface="Arial"/>
                <a:cs typeface="Arial"/>
              </a:rPr>
              <a:t>持续演进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52BAA-0F60-4C6E-8E5C-ECA1F67C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0525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D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75C9"/>
                </a:solidFill>
                <a:latin typeface="Microsoft YaHei"/>
                <a:ea typeface="Microsoft YaHei"/>
                <a:cs typeface="Microsoft YaHei"/>
              </a:rPr>
              <a:t>智能航电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059996-7A68-4196-8479-5EC5BD64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71950"/>
            <a:ext cx="23336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AB2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7388"/>
                </a:solidFill>
                <a:latin typeface="Arial"/>
                <a:ea typeface="Arial"/>
                <a:cs typeface="Arial"/>
              </a:rPr>
              <a:t>Honeywell Aerospace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97A178-6F01-472B-A324-D50C9C3B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67225"/>
            <a:ext cx="23622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AI 与边缘计算进入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安全关键型飞行系统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261692-045C-4166-A227-B776C614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105400"/>
            <a:ext cx="2362200" cy="4476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7D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3F566D"/>
                </a:solidFill>
                <a:latin typeface="Microsoft YaHei"/>
                <a:ea typeface="Microsoft YaHei"/>
                <a:cs typeface="Microsoft YaHei"/>
              </a:rPr>
              <a:t>集成航电、传感器融合与连接能力，正在成为自主飞行和先进空中交通的可信计算底座。</a:t>
            </a:r>
          </a:p>
        </p:txBody>
      </p:sp>
      <p:sp>
        <p:nvSpPr>
          <p:cNvPr id="30" name="impact-rule-2">
            <a:extLst xmlns:a="http://schemas.openxmlformats.org/drawingml/2006/main">
              <a:ext uri="{FF2B5EF4-FFF2-40B4-BE49-F238E27FC236}">
                <a16:creationId xmlns:a16="http://schemas.microsoft.com/office/drawing/2014/main" id="{F43ED261-7E28-47A9-81D5-B688CEB9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292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E5"/>
          </a:solidFill>
          <a:ln xmlns:a="http://schemas.openxmlformats.org/drawingml/2006/main" w="0">
            <a:solidFill>
              <a:srgbClr val="1597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6707C0-21C3-4BB0-B275-01C2FDC9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10225"/>
            <a:ext cx="223837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价值：从“飞行员辅助”走向可认证自动化</a:t>
            </a:r>
          </a:p>
        </p:txBody>
      </p:sp>
      <p:sp>
        <p:nvSpPr>
          <p:cNvPr id="32" name="panel-3">
            <a:extLst xmlns:a="http://schemas.openxmlformats.org/drawingml/2006/main">
              <a:ext uri="{FF2B5EF4-FFF2-40B4-BE49-F238E27FC236}">
                <a16:creationId xmlns:a16="http://schemas.microsoft.com/office/drawing/2014/main" id="{1D099D09-1537-41C8-A5BF-15680017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6670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F4F8F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055ac7f1846f5"/>
          <a:srcRect xmlns:a="http://schemas.openxmlformats.org/drawingml/2006/main" l="4976" t="0" r="4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762125"/>
            <a:ext cx="2667000" cy="1666875"/>
          </a:xfrm>
          <a:prstGeom xmlns:a="http://schemas.openxmlformats.org/drawingml/2006/main" prst="rect">
            <a:avLst/>
          </a:prstGeom>
        </p:spPr>
      </p:pic>
      <p:sp>
        <p:nvSpPr>
          <p:cNvPr id="34" name="image-rule-3">
            <a:extLst xmlns:a="http://schemas.openxmlformats.org/drawingml/2006/main">
              <a:ext uri="{FF2B5EF4-FFF2-40B4-BE49-F238E27FC236}">
                <a16:creationId xmlns:a16="http://schemas.microsoft.com/office/drawing/2014/main" id="{9C658634-4F82-4054-8626-D6F3874D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FEA"/>
          </a:solidFill>
          <a:ln xmlns:a="http://schemas.openxmlformats.org/drawingml/2006/main" w="0">
            <a:solidFill>
              <a:srgbClr val="356F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BD6014-A76F-46AE-8BA6-CBC45CD4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62350"/>
            <a:ext cx="381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D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5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04CC2C-D7B0-4CDD-B288-CF90338C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90925"/>
            <a:ext cx="857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B2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7388"/>
                </a:solidFill>
                <a:latin typeface="Arial"/>
                <a:ea typeface="Arial"/>
                <a:cs typeface="Arial"/>
              </a:rPr>
              <a:t>2026 进展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D970D6-6F56-4BBE-A006-F3F737FE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D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75C9"/>
                </a:solidFill>
                <a:latin typeface="Microsoft YaHei"/>
                <a:ea typeface="Microsoft YaHei"/>
                <a:cs typeface="Microsoft YaHei"/>
              </a:rPr>
              <a:t>自主作战航空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F2428B-EC31-4FE8-9C16-694626A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23336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AB2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7388"/>
                </a:solidFill>
                <a:latin typeface="Arial"/>
                <a:ea typeface="Arial"/>
                <a:cs typeface="Arial"/>
              </a:rPr>
              <a:t>Shield AI · Hivemind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4E00C1-2BEC-4177-8FD6-C358F0E5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67225"/>
            <a:ext cx="23622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AI 飞行员驱动 X-BAT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无跑道、弱通信自主飞行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A5339D-65D4-4308-9320-EA387AA8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2362200" cy="4476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7D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3F566D"/>
                </a:solidFill>
                <a:latin typeface="Microsoft YaHei"/>
                <a:ea typeface="Microsoft YaHei"/>
                <a:cs typeface="Microsoft YaHei"/>
              </a:rPr>
              <a:t>Hivemind 将感知、规划与控制部署到机上，目标是在通信受限环境维持任务级自主。</a:t>
            </a:r>
          </a:p>
        </p:txBody>
      </p:sp>
      <p:sp>
        <p:nvSpPr>
          <p:cNvPr id="41" name="impact-rule-3">
            <a:extLst xmlns:a="http://schemas.openxmlformats.org/drawingml/2006/main">
              <a:ext uri="{FF2B5EF4-FFF2-40B4-BE49-F238E27FC236}">
                <a16:creationId xmlns:a16="http://schemas.microsoft.com/office/drawing/2014/main" id="{85CD98FD-AA06-433E-BC43-37C1A376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292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E5"/>
          </a:solidFill>
          <a:ln xmlns:a="http://schemas.openxmlformats.org/drawingml/2006/main" w="0">
            <a:solidFill>
              <a:srgbClr val="1597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D2ADB-B589-4EC1-893C-3F6FAEB4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10225"/>
            <a:ext cx="223837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价值：自主能力从无人机扩展至高性能航空器</a:t>
            </a:r>
          </a:p>
        </p:txBody>
      </p:sp>
      <p:sp>
        <p:nvSpPr>
          <p:cNvPr id="43" name="panel-4">
            <a:extLst xmlns:a="http://schemas.openxmlformats.org/drawingml/2006/main">
              <a:ext uri="{FF2B5EF4-FFF2-40B4-BE49-F238E27FC236}">
                <a16:creationId xmlns:a16="http://schemas.microsoft.com/office/drawing/2014/main" id="{F1B56479-1EDA-4E7F-A386-BE7FBDA4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62125"/>
            <a:ext cx="26670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EDF4FA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bf4895d164b8c"/>
          <a:srcRect xmlns:a="http://schemas.openxmlformats.org/drawingml/2006/main" l="4976" t="0" r="4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9700" y="1762125"/>
            <a:ext cx="2667000" cy="1666875"/>
          </a:xfrm>
          <a:prstGeom xmlns:a="http://schemas.openxmlformats.org/drawingml/2006/main" prst="rect">
            <a:avLst/>
          </a:prstGeom>
        </p:spPr>
      </p:pic>
      <p:sp>
        <p:nvSpPr>
          <p:cNvPr id="45" name="image-rule-4">
            <a:extLst xmlns:a="http://schemas.openxmlformats.org/drawingml/2006/main">
              <a:ext uri="{FF2B5EF4-FFF2-40B4-BE49-F238E27FC236}">
                <a16:creationId xmlns:a16="http://schemas.microsoft.com/office/drawing/2014/main" id="{DE8B484C-91B4-4B9C-9900-41BC62FD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FEA"/>
          </a:solidFill>
          <a:ln xmlns:a="http://schemas.openxmlformats.org/drawingml/2006/main" w="0">
            <a:solidFill>
              <a:srgbClr val="356F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8D975D-0081-40BD-82F9-B62C5EBE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62350"/>
            <a:ext cx="381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D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5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8A5707-F0B8-4A4E-B1C7-800142DE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90925"/>
            <a:ext cx="8572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B2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7388"/>
                </a:solidFill>
                <a:latin typeface="Arial"/>
                <a:ea typeface="Arial"/>
                <a:cs typeface="Arial"/>
              </a:rPr>
              <a:t>在轨验证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21E8CF-8606-494C-BF0A-30FEECEE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1428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8D4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75C9"/>
                </a:solidFill>
                <a:latin typeface="Microsoft YaHei"/>
                <a:ea typeface="Microsoft YaHei"/>
                <a:cs typeface="Microsoft YaHei"/>
              </a:rPr>
              <a:t>星上智能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58D20D-2304-4AE0-A3C9-6CB3C873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71950"/>
            <a:ext cx="2333625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AB2C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7388"/>
                </a:solidFill>
                <a:latin typeface="Arial"/>
                <a:ea typeface="Arial"/>
                <a:cs typeface="Arial"/>
              </a:rPr>
              <a:t>ESA · Φsat-2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BF9CA7-6715-4978-B752-CD79CAF5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67225"/>
            <a:ext cx="2362200" cy="571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卫星在轨筛选影像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只把高价值数据传回地面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92F395-B745-49C8-B761-6221B100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05400"/>
            <a:ext cx="2362200" cy="447675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7D8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3F566D"/>
                </a:solidFill>
                <a:latin typeface="Microsoft YaHei"/>
                <a:ea typeface="Microsoft YaHei"/>
                <a:cs typeface="Microsoft YaHei"/>
              </a:rPr>
              <a:t>星上 AI 可执行云检测、灾害识别等应用，把遥感链路由“先下传后分析”改为边缘处理。</a:t>
            </a:r>
          </a:p>
        </p:txBody>
      </p:sp>
      <p:sp>
        <p:nvSpPr>
          <p:cNvPr id="52" name="impact-rule-4">
            <a:extLst xmlns:a="http://schemas.openxmlformats.org/drawingml/2006/main">
              <a:ext uri="{FF2B5EF4-FFF2-40B4-BE49-F238E27FC236}">
                <a16:creationId xmlns:a16="http://schemas.microsoft.com/office/drawing/2014/main" id="{1DD11A7C-1D08-40E4-B228-6707BFE4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292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7E5"/>
          </a:solidFill>
          <a:ln xmlns:a="http://schemas.openxmlformats.org/drawingml/2006/main" w="0">
            <a:solidFill>
              <a:srgbClr val="1597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86BBA2-911F-458F-90DD-3ED29563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610225"/>
            <a:ext cx="2238375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F4F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价值：降低带宽与响应时延，形成实时遥感</a:t>
            </a:r>
          </a:p>
        </p:txBody>
      </p:sp>
      <p:sp>
        <p:nvSpPr>
          <p:cNvPr id="5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DB40FE9-AEEE-4EF5-93FF-24A75FE8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solidFill>
              <a:srgbClr val="C8D7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3CEBF7-E8E6-4FE3-B03E-6BE9B970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0"/>
            <a:ext cx="9858375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F8C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来源：NASA（2026-01-30）、Honeywell Aerospace、Shield AI X-BAT、ESA Φsat-2｜后三图为概念图｜截至 2026-06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CE6949-69E9-4338-A5B2-40F1D19C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67450"/>
            <a:ext cx="12954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18D4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875C9"/>
                </a:solidFill>
                <a:latin typeface="Arial"/>
                <a:ea typeface="Arial"/>
                <a:cs typeface="Arial"/>
              </a:rPr>
              <a:t>04 / AI FRONTIERS</a:t>
            </a:r>
          </a:p>
        </p:txBody>
      </p:sp>
    </p:spTree>
    <p:extLst>
      <p:ext uri="{BB962C8B-B14F-4D97-AF65-F5344CB8AC3E}">
        <p14:creationId xmlns:p14="http://schemas.microsoft.com/office/powerpoint/2010/main" val="9498183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2026-06-12T08:28:11.9310000Z</dcterms:created>
  <dcterms:modified xsi:type="dcterms:W3CDTF">2026-06-12T08:28:11.9310000Z</dcterms:modified>
</coreProperties>
</file>