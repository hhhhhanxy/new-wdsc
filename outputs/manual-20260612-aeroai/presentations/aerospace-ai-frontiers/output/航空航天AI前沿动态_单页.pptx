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ackground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426"/>
          </a:solidFill>
          <a:ln w="0">
            <a:solidFill>
              <a:srgbClr val="061426"/>
            </a:solidFill>
            <a:prstDash val="solid"/>
          </a:ln>
        </p:spPr>
      </p:sp>
      <p:sp>
        <p:nvSpPr>
          <p:cNvPr id="3" name="top-accent"/>
          <p:cNvSpPr>
            <a:spLocks noGrp="1"/>
          </p:cNvSpPr>
          <p:nvPr/>
        </p:nvSpPr>
        <p:spPr>
          <a:xfrm>
            <a:off x="0" y="0"/>
            <a:ext cx="12192000" cy="66675"/>
          </a:xfrm>
          <a:prstGeom prst="rect">
            <a:avLst/>
          </a:prstGeom>
          <a:solidFill>
            <a:srgbClr val="18D4FF"/>
          </a:solidFill>
          <a:ln w="0">
            <a:solidFill>
              <a:srgbClr val="18D4FF"/>
            </a:solidFill>
            <a:prstDash val="solid"/>
          </a:ln>
        </p:spPr>
      </p:sp>
      <p:sp>
        <p:nvSpPr>
          <p:cNvPr id="4" name="kicker-marker"/>
          <p:cNvSpPr>
            <a:spLocks noGrp="1"/>
          </p:cNvSpPr>
          <p:nvPr/>
        </p:nvSpPr>
        <p:spPr>
          <a:xfrm>
            <a:off x="514350" y="419100"/>
            <a:ext cx="47625" cy="171450"/>
          </a:xfrm>
          <a:prstGeom prst="rect">
            <a:avLst/>
          </a:prstGeom>
          <a:solidFill>
            <a:srgbClr val="18D4FF"/>
          </a:solidFill>
          <a:ln w="0">
            <a:solidFill>
              <a:srgbClr val="18D4FF"/>
            </a:solidFill>
            <a:prstDash val="solid"/>
          </a:ln>
        </p:spPr>
      </p:sp>
      <p:sp>
        <p:nvSpPr>
          <p:cNvPr id="5" name="kicker-label"/>
          <p:cNvSpPr>
            <a:spLocks noGrp="1"/>
          </p:cNvSpPr>
          <p:nvPr/>
        </p:nvSpPr>
        <p:spPr>
          <a:xfrm>
            <a:off x="657225" y="381000"/>
            <a:ext cx="2667000" cy="238125"/>
          </a:xfrm>
          <a:prstGeom prst="rect">
            <a:avLst/>
          </a:prstGeom>
          <a:ln w="0"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18D4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75" b="1">
                <a:solidFill>
                  <a:srgbClr val="18D4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FRONTIER RADAR  ·  2026</a:t>
            </a:r>
            <a:endParaRPr sz="975" b="1">
              <a:solidFill>
                <a:srgbClr val="18D4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14350" y="695325"/>
            <a:ext cx="10668000" cy="523875"/>
          </a:xfrm>
          <a:prstGeom prst="rect">
            <a:avLst/>
          </a:prstGeom>
          <a:ln w="0"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F4FA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50" b="1">
                <a:solidFill>
                  <a:srgbClr val="F4FA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航空航天 AI 正从“辅助判断”迈向“自主执行”</a:t>
            </a:r>
            <a:endParaRPr sz="2850" b="1">
              <a:solidFill>
                <a:srgbClr val="F4FA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33400" y="1257300"/>
            <a:ext cx="10287000" cy="266700"/>
          </a:xfrm>
          <a:prstGeom prst="rect">
            <a:avLst/>
          </a:prstGeom>
          <a:ln w="0"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9AB2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9AB2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四个信号显示：算法正在离开地面云端，进入机载、星载与行星表面的实时闭环</a:t>
            </a:r>
            <a:endParaRPr sz="1200" b="0">
              <a:solidFill>
                <a:srgbClr val="9AB2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0191750" y="304800"/>
            <a:ext cx="495300" cy="228600"/>
          </a:xfrm>
          <a:prstGeom prst="rect">
            <a:avLst/>
          </a:prstGeom>
          <a:ln w="0">
            <a:prstDash val="solid"/>
          </a:ln>
        </p:spPr>
        <p:txBody>
          <a:bodyPr lIns="0" tIns="0" rIns="0" bIns="0" anchor="ctr"/>
          <a:lstStyle/>
          <a:p>
            <a:pPr algn="ctr">
              <a:defRPr sz="900" b="0">
                <a:solidFill>
                  <a:srgbClr val="9AB2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9AB2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感知</a:t>
            </a:r>
            <a:endParaRPr sz="900" b="0">
              <a:solidFill>
                <a:srgbClr val="9AB2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progress-1"/>
          <p:cNvSpPr>
            <a:spLocks noGrp="1"/>
          </p:cNvSpPr>
          <p:nvPr/>
        </p:nvSpPr>
        <p:spPr>
          <a:xfrm>
            <a:off x="10706100" y="409575"/>
            <a:ext cx="342900" cy="19050"/>
          </a:xfrm>
          <a:prstGeom prst="rect">
            <a:avLst/>
          </a:prstGeom>
          <a:solidFill>
            <a:srgbClr val="24445F"/>
          </a:solidFill>
          <a:ln w="0">
            <a:solidFill>
              <a:srgbClr val="24445F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11106150" y="304800"/>
            <a:ext cx="495300" cy="228600"/>
          </a:xfrm>
          <a:prstGeom prst="rect">
            <a:avLst/>
          </a:prstGeom>
          <a:ln w="0">
            <a:prstDash val="solid"/>
          </a:ln>
        </p:spPr>
        <p:txBody>
          <a:bodyPr lIns="0" tIns="0" rIns="0" bIns="0" anchor="ctr"/>
          <a:lstStyle/>
          <a:p>
            <a:pPr algn="ctr">
              <a:defRPr sz="900" b="1">
                <a:solidFill>
                  <a:srgbClr val="18D4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18D4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决策</a:t>
            </a:r>
            <a:endParaRPr sz="900" b="1">
              <a:solidFill>
                <a:srgbClr val="18D4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panel-1"/>
          <p:cNvSpPr>
            <a:spLocks noGrp="1"/>
          </p:cNvSpPr>
          <p:nvPr/>
        </p:nvSpPr>
        <p:spPr>
          <a:xfrm>
            <a:off x="514350" y="1762125"/>
            <a:ext cx="2667000" cy="423862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rcRect l="5000" r="5000"/>
          <a:stretch>
            <a:fillRect/>
          </a:stretch>
        </p:blipFill>
        <p:spPr>
          <a:xfrm>
            <a:off x="514350" y="1762125"/>
            <a:ext cx="2667000" cy="1666875"/>
          </a:xfrm>
          <a:prstGeom prst="rect">
            <a:avLst/>
          </a:prstGeom>
        </p:spPr>
      </p:pic>
      <p:sp>
        <p:nvSpPr>
          <p:cNvPr id="13" name="image-rule-1"/>
          <p:cNvSpPr>
            <a:spLocks noGrp="1"/>
          </p:cNvSpPr>
          <p:nvPr/>
        </p:nvSpPr>
        <p:spPr>
          <a:xfrm>
            <a:off x="514350" y="3390900"/>
            <a:ext cx="2667000" cy="38100"/>
          </a:xfrm>
          <a:prstGeom prst="rect">
            <a:avLst/>
          </a:prstGeom>
          <a:solidFill>
            <a:srgbClr val="18D4FF"/>
          </a:solidFill>
          <a:ln w="0">
            <a:solidFill>
              <a:srgbClr val="18D4FF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666750" y="3562350"/>
            <a:ext cx="381000" cy="266700"/>
          </a:xfrm>
          <a:prstGeom prst="rect">
            <a:avLst/>
          </a:prstGeom>
          <a:ln w="0">
            <a:prstDash val="solid"/>
          </a:ln>
        </p:spPr>
        <p:txBody>
          <a:bodyPr lIns="0" tIns="0" rIns="0" bIns="0" anchor="ctr"/>
          <a:lstStyle/>
          <a:p>
            <a:pPr algn="l">
              <a:defRPr sz="1650" b="1">
                <a:solidFill>
                  <a:srgbClr val="18D4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1">
                <a:solidFill>
                  <a:srgbClr val="18D4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01</a:t>
            </a:r>
            <a:endParaRPr sz="1650" b="1">
              <a:solidFill>
                <a:srgbClr val="18D4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2171700" y="3590925"/>
            <a:ext cx="857250" cy="209550"/>
          </a:xfrm>
          <a:prstGeom prst="rect">
            <a:avLst/>
          </a:prstGeom>
          <a:ln w="0">
            <a:prstDash val="solid"/>
          </a:ln>
        </p:spPr>
        <p:txBody>
          <a:bodyPr lIns="0" tIns="0" rIns="0" bIns="0" anchor="ctr"/>
          <a:lstStyle/>
          <a:p>
            <a:pPr algn="r">
              <a:defRPr sz="825" b="0">
                <a:solidFill>
                  <a:srgbClr val="9AB2C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825" b="0">
                <a:solidFill>
                  <a:srgbClr val="9AB2C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2026.01</a:t>
            </a:r>
            <a:endParaRPr sz="825" b="0">
              <a:solidFill>
                <a:srgbClr val="9AB2C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66750" y="3905250"/>
            <a:ext cx="1428750" cy="228600"/>
          </a:xfrm>
          <a:prstGeom prst="rect">
            <a:avLst/>
          </a:prstGeom>
          <a:ln w="0"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8D4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18D4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太空智驾</a:t>
            </a:r>
            <a:endParaRPr sz="975" b="1">
              <a:solidFill>
                <a:srgbClr val="18D4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66750" y="4171950"/>
            <a:ext cx="2333625" cy="209550"/>
          </a:xfrm>
          <a:prstGeom prst="rect">
            <a:avLst/>
          </a:prstGeom>
          <a:ln w="0"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9AB2C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825" b="0">
                <a:solidFill>
                  <a:srgbClr val="9AB2C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NASA · Perseverance</a:t>
            </a:r>
            <a:endParaRPr sz="825" b="0">
              <a:solidFill>
                <a:srgbClr val="9AB2C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66750" y="4467225"/>
            <a:ext cx="2362200" cy="571500"/>
          </a:xfrm>
          <a:prstGeom prst="rect">
            <a:avLst/>
          </a:prstGeom>
          <a:ln w="0"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4FA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4FA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生成式 AI 首次规划</a:t>
            </a:r>
            <a:endParaRPr sz="1350" b="1">
              <a:solidFill>
                <a:srgbClr val="F4FA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350" b="1">
                <a:solidFill>
                  <a:srgbClr val="F4FA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4FA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火星车实际行驶路线</a:t>
            </a:r>
            <a:endParaRPr sz="1350" b="1">
              <a:solidFill>
                <a:srgbClr val="F4FA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66750" y="5105400"/>
            <a:ext cx="2362200" cy="447675"/>
          </a:xfrm>
          <a:prstGeom prst="rect">
            <a:avLst/>
          </a:prstGeom>
          <a:ln w="0">
            <a:prstDash val="solid"/>
          </a:ln>
        </p:spPr>
        <p:txBody>
          <a:bodyPr lIns="0" tIns="0" rIns="0" bIns="0" anchor="t"/>
          <a:lstStyle/>
          <a:p>
            <a:pPr algn="l">
              <a:defRPr sz="865" b="0">
                <a:solidFill>
                  <a:srgbClr val="C7D8E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5" b="0">
                <a:solidFill>
                  <a:srgbClr val="C7D8E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从轨道影像识别地形并生成航点，完成两次实地行驶；深空任务开始把“规划权”前移。</a:t>
            </a:r>
            <a:endParaRPr sz="865" b="0">
              <a:solidFill>
                <a:srgbClr val="C7D8E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impact-rule-1"/>
          <p:cNvSpPr>
            <a:spLocks noGrp="1"/>
          </p:cNvSpPr>
          <p:nvPr/>
        </p:nvSpPr>
        <p:spPr>
          <a:xfrm>
            <a:off x="666750" y="5629275"/>
            <a:ext cx="28575" cy="228600"/>
          </a:xfrm>
          <a:prstGeom prst="rect">
            <a:avLst/>
          </a:prstGeom>
          <a:solidFill>
            <a:srgbClr val="18D4FF"/>
          </a:solidFill>
          <a:ln w="0">
            <a:solidFill>
              <a:srgbClr val="18D4FF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781050" y="5610225"/>
            <a:ext cx="2238375" cy="247650"/>
          </a:xfrm>
          <a:prstGeom prst="rect">
            <a:avLst/>
          </a:prstGeom>
          <a:ln w="0">
            <a:prstDash val="solid"/>
          </a:ln>
        </p:spPr>
        <p:txBody>
          <a:bodyPr lIns="0" tIns="0" rIns="0" bIns="0" anchor="ctr"/>
          <a:lstStyle/>
          <a:p>
            <a:pPr algn="l">
              <a:defRPr sz="810" b="0">
                <a:solidFill>
                  <a:srgbClr val="F4FA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10" b="0">
                <a:solidFill>
                  <a:srgbClr val="F4FA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价值：缩短地火通信等待，提升任务自主性</a:t>
            </a:r>
            <a:endParaRPr sz="810" b="0">
              <a:solidFill>
                <a:srgbClr val="F4FA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panel-2"/>
          <p:cNvSpPr>
            <a:spLocks noGrp="1"/>
          </p:cNvSpPr>
          <p:nvPr/>
        </p:nvSpPr>
        <p:spPr>
          <a:xfrm>
            <a:off x="3352800" y="1762125"/>
            <a:ext cx="2667000" cy="4238625"/>
          </a:xfrm>
          <a:prstGeom prst="rect">
            <a:avLst/>
          </a:prstGeom>
          <a:solidFill>
            <a:srgbClr val="0C2945"/>
          </a:solidFill>
          <a:ln w="0">
            <a:solidFill>
              <a:srgbClr val="0C2945"/>
            </a:solidFill>
            <a:prstDash val="solid"/>
          </a:ln>
        </p:spPr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2"/>
          <a:srcRect l="4976" r="4976"/>
          <a:stretch>
            <a:fillRect/>
          </a:stretch>
        </p:blipFill>
        <p:spPr>
          <a:xfrm>
            <a:off x="3352800" y="1762125"/>
            <a:ext cx="2667000" cy="1666875"/>
          </a:xfrm>
          <a:prstGeom prst="rect">
            <a:avLst/>
          </a:prstGeom>
        </p:spPr>
      </p:pic>
      <p:sp>
        <p:nvSpPr>
          <p:cNvPr id="24" name="image-rule-2"/>
          <p:cNvSpPr>
            <a:spLocks noGrp="1"/>
          </p:cNvSpPr>
          <p:nvPr/>
        </p:nvSpPr>
        <p:spPr>
          <a:xfrm>
            <a:off x="3352800" y="3390900"/>
            <a:ext cx="2667000" cy="38100"/>
          </a:xfrm>
          <a:prstGeom prst="rect">
            <a:avLst/>
          </a:prstGeom>
          <a:solidFill>
            <a:srgbClr val="4D7CFE"/>
          </a:solidFill>
          <a:ln w="0">
            <a:solidFill>
              <a:srgbClr val="4D7CFE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3505200" y="3562350"/>
            <a:ext cx="381000" cy="266700"/>
          </a:xfrm>
          <a:prstGeom prst="rect">
            <a:avLst/>
          </a:prstGeom>
          <a:ln w="0">
            <a:prstDash val="solid"/>
          </a:ln>
        </p:spPr>
        <p:txBody>
          <a:bodyPr lIns="0" tIns="0" rIns="0" bIns="0" anchor="ctr"/>
          <a:lstStyle/>
          <a:p>
            <a:pPr algn="l">
              <a:defRPr sz="1650" b="1">
                <a:solidFill>
                  <a:srgbClr val="18D4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1">
                <a:solidFill>
                  <a:srgbClr val="18D4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02</a:t>
            </a:r>
            <a:endParaRPr sz="1650" b="1">
              <a:solidFill>
                <a:srgbClr val="18D4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5010150" y="3590925"/>
            <a:ext cx="857250" cy="209550"/>
          </a:xfrm>
          <a:prstGeom prst="rect">
            <a:avLst/>
          </a:prstGeom>
          <a:ln w="0">
            <a:prstDash val="solid"/>
          </a:ln>
        </p:spPr>
        <p:txBody>
          <a:bodyPr lIns="0" tIns="0" rIns="0" bIns="0" anchor="ctr"/>
          <a:lstStyle/>
          <a:p>
            <a:pPr algn="r">
              <a:defRPr sz="825" b="0">
                <a:solidFill>
                  <a:srgbClr val="9AB2C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825" b="0">
                <a:solidFill>
                  <a:srgbClr val="9AB2C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持续演进</a:t>
            </a:r>
            <a:endParaRPr sz="825" b="0">
              <a:solidFill>
                <a:srgbClr val="9AB2C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3505200" y="3905250"/>
            <a:ext cx="1428750" cy="228600"/>
          </a:xfrm>
          <a:prstGeom prst="rect">
            <a:avLst/>
          </a:prstGeom>
          <a:ln w="0"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8D4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18D4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智能航电</a:t>
            </a:r>
            <a:endParaRPr sz="975" b="1">
              <a:solidFill>
                <a:srgbClr val="18D4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3505200" y="4171950"/>
            <a:ext cx="2333625" cy="209550"/>
          </a:xfrm>
          <a:prstGeom prst="rect">
            <a:avLst/>
          </a:prstGeom>
          <a:ln w="0"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9AB2C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825" b="0">
                <a:solidFill>
                  <a:srgbClr val="9AB2C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Honeywell Aerospace</a:t>
            </a:r>
            <a:endParaRPr sz="825" b="0">
              <a:solidFill>
                <a:srgbClr val="9AB2C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3505200" y="4467225"/>
            <a:ext cx="2362200" cy="571500"/>
          </a:xfrm>
          <a:prstGeom prst="rect">
            <a:avLst/>
          </a:prstGeom>
          <a:ln w="0"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4FA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4FA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与边缘计算进入</a:t>
            </a:r>
            <a:endParaRPr sz="1350" b="1">
              <a:solidFill>
                <a:srgbClr val="F4FA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350" b="1">
                <a:solidFill>
                  <a:srgbClr val="F4FA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4FA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安全关键型飞行系统</a:t>
            </a:r>
            <a:endParaRPr sz="1350" b="1">
              <a:solidFill>
                <a:srgbClr val="F4FA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3505200" y="5105400"/>
            <a:ext cx="2362200" cy="447675"/>
          </a:xfrm>
          <a:prstGeom prst="rect">
            <a:avLst/>
          </a:prstGeom>
          <a:ln w="0">
            <a:prstDash val="solid"/>
          </a:ln>
        </p:spPr>
        <p:txBody>
          <a:bodyPr lIns="0" tIns="0" rIns="0" bIns="0" anchor="t"/>
          <a:lstStyle/>
          <a:p>
            <a:pPr algn="l">
              <a:defRPr sz="865" b="0">
                <a:solidFill>
                  <a:srgbClr val="C7D8E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5" b="0">
                <a:solidFill>
                  <a:srgbClr val="C7D8E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集成航电、传感器融合与连接能力，正在成为自主飞行和先进空中交通的可信计算底座。</a:t>
            </a:r>
            <a:endParaRPr sz="865" b="0">
              <a:solidFill>
                <a:srgbClr val="C7D8E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impact-rule-2"/>
          <p:cNvSpPr>
            <a:spLocks noGrp="1"/>
          </p:cNvSpPr>
          <p:nvPr/>
        </p:nvSpPr>
        <p:spPr>
          <a:xfrm>
            <a:off x="3505200" y="5629275"/>
            <a:ext cx="28575" cy="228600"/>
          </a:xfrm>
          <a:prstGeom prst="rect">
            <a:avLst/>
          </a:prstGeom>
          <a:solidFill>
            <a:srgbClr val="18D4FF"/>
          </a:solidFill>
          <a:ln w="0">
            <a:solidFill>
              <a:srgbClr val="18D4FF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3619500" y="5610225"/>
            <a:ext cx="2238375" cy="247650"/>
          </a:xfrm>
          <a:prstGeom prst="rect">
            <a:avLst/>
          </a:prstGeom>
          <a:ln w="0">
            <a:prstDash val="solid"/>
          </a:ln>
        </p:spPr>
        <p:txBody>
          <a:bodyPr lIns="0" tIns="0" rIns="0" bIns="0" anchor="ctr"/>
          <a:lstStyle/>
          <a:p>
            <a:pPr algn="l">
              <a:defRPr sz="810" b="0">
                <a:solidFill>
                  <a:srgbClr val="F4FA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10" b="0">
                <a:solidFill>
                  <a:srgbClr val="F4FA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价值：从“飞行员辅助”走向可认证自动化</a:t>
            </a:r>
            <a:endParaRPr sz="810" b="0">
              <a:solidFill>
                <a:srgbClr val="F4FA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panel-3"/>
          <p:cNvSpPr>
            <a:spLocks noGrp="1"/>
          </p:cNvSpPr>
          <p:nvPr/>
        </p:nvSpPr>
        <p:spPr>
          <a:xfrm>
            <a:off x="6191250" y="1762125"/>
            <a:ext cx="2667000" cy="4238625"/>
          </a:xfrm>
          <a:prstGeom prst="rect">
            <a:avLst/>
          </a:prstGeom>
          <a:solidFill>
            <a:srgbClr val="0A2037"/>
          </a:solidFill>
          <a:ln w="0">
            <a:solidFill>
              <a:srgbClr val="0A2037"/>
            </a:solidFill>
            <a:prstDash val="solid"/>
          </a:ln>
        </p:spPr>
      </p:sp>
      <p:pic>
        <p:nvPicPr>
          <p:cNvPr id="34" name="图片 33"/>
          <p:cNvPicPr>
            <a:picLocks noChangeAspect="1"/>
          </p:cNvPicPr>
          <p:nvPr/>
        </p:nvPicPr>
        <p:blipFill>
          <a:blip r:embed="rId3"/>
          <a:srcRect l="4976" r="4976"/>
          <a:stretch>
            <a:fillRect/>
          </a:stretch>
        </p:blipFill>
        <p:spPr>
          <a:xfrm>
            <a:off x="6191250" y="1762125"/>
            <a:ext cx="2667000" cy="1666875"/>
          </a:xfrm>
          <a:prstGeom prst="rect">
            <a:avLst/>
          </a:prstGeom>
        </p:spPr>
      </p:pic>
      <p:sp>
        <p:nvSpPr>
          <p:cNvPr id="35" name="image-rule-3"/>
          <p:cNvSpPr>
            <a:spLocks noGrp="1"/>
          </p:cNvSpPr>
          <p:nvPr/>
        </p:nvSpPr>
        <p:spPr>
          <a:xfrm>
            <a:off x="6191250" y="3390900"/>
            <a:ext cx="2667000" cy="38100"/>
          </a:xfrm>
          <a:prstGeom prst="rect">
            <a:avLst/>
          </a:prstGeom>
          <a:solidFill>
            <a:srgbClr val="4D7CFE"/>
          </a:solidFill>
          <a:ln w="0">
            <a:solidFill>
              <a:srgbClr val="4D7CFE"/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6343650" y="3562350"/>
            <a:ext cx="381000" cy="266700"/>
          </a:xfrm>
          <a:prstGeom prst="rect">
            <a:avLst/>
          </a:prstGeom>
          <a:ln w="0">
            <a:prstDash val="solid"/>
          </a:ln>
        </p:spPr>
        <p:txBody>
          <a:bodyPr lIns="0" tIns="0" rIns="0" bIns="0" anchor="ctr"/>
          <a:lstStyle/>
          <a:p>
            <a:pPr algn="l">
              <a:defRPr sz="1650" b="1">
                <a:solidFill>
                  <a:srgbClr val="18D4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1">
                <a:solidFill>
                  <a:srgbClr val="18D4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03</a:t>
            </a:r>
            <a:endParaRPr sz="1650" b="1">
              <a:solidFill>
                <a:srgbClr val="18D4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7848600" y="3590925"/>
            <a:ext cx="857250" cy="209550"/>
          </a:xfrm>
          <a:prstGeom prst="rect">
            <a:avLst/>
          </a:prstGeom>
          <a:ln w="0">
            <a:prstDash val="solid"/>
          </a:ln>
        </p:spPr>
        <p:txBody>
          <a:bodyPr lIns="0" tIns="0" rIns="0" bIns="0" anchor="ctr"/>
          <a:lstStyle/>
          <a:p>
            <a:pPr algn="r">
              <a:defRPr sz="825" b="0">
                <a:solidFill>
                  <a:srgbClr val="9AB2C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825" b="0">
                <a:solidFill>
                  <a:srgbClr val="9AB2C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2026 进展</a:t>
            </a:r>
            <a:endParaRPr sz="825" b="0">
              <a:solidFill>
                <a:srgbClr val="9AB2C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6343650" y="3905250"/>
            <a:ext cx="1428750" cy="228600"/>
          </a:xfrm>
          <a:prstGeom prst="rect">
            <a:avLst/>
          </a:prstGeom>
          <a:ln w="0"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8D4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18D4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自主作战航空</a:t>
            </a:r>
            <a:endParaRPr sz="975" b="1">
              <a:solidFill>
                <a:srgbClr val="18D4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6343650" y="4171950"/>
            <a:ext cx="2333625" cy="209550"/>
          </a:xfrm>
          <a:prstGeom prst="rect">
            <a:avLst/>
          </a:prstGeom>
          <a:ln w="0"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9AB2C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825" b="0">
                <a:solidFill>
                  <a:srgbClr val="9AB2C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Shield AI · Hivemind</a:t>
            </a:r>
            <a:endParaRPr sz="825" b="0">
              <a:solidFill>
                <a:srgbClr val="9AB2C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6343650" y="4467225"/>
            <a:ext cx="2362200" cy="571500"/>
          </a:xfrm>
          <a:prstGeom prst="rect">
            <a:avLst/>
          </a:prstGeom>
          <a:ln w="0"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4FA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4FA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飞行员驱动 X-BAT</a:t>
            </a:r>
            <a:endParaRPr sz="1350" b="1">
              <a:solidFill>
                <a:srgbClr val="F4FA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350" b="1">
                <a:solidFill>
                  <a:srgbClr val="F4FA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4FA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无跑道、弱通信自主飞行</a:t>
            </a:r>
            <a:endParaRPr sz="1350" b="1">
              <a:solidFill>
                <a:srgbClr val="F4FA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6343650" y="5105400"/>
            <a:ext cx="2362200" cy="447675"/>
          </a:xfrm>
          <a:prstGeom prst="rect">
            <a:avLst/>
          </a:prstGeom>
          <a:ln w="0">
            <a:prstDash val="solid"/>
          </a:ln>
        </p:spPr>
        <p:txBody>
          <a:bodyPr lIns="0" tIns="0" rIns="0" bIns="0" anchor="t"/>
          <a:lstStyle/>
          <a:p>
            <a:pPr algn="l">
              <a:defRPr sz="865" b="0">
                <a:solidFill>
                  <a:srgbClr val="C7D8E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5" b="0">
                <a:solidFill>
                  <a:srgbClr val="C7D8E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Hivemind 将感知、规划与控制部署到机上，目标是在通信受限环境维持任务级自主。</a:t>
            </a:r>
            <a:endParaRPr sz="865" b="0">
              <a:solidFill>
                <a:srgbClr val="C7D8E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impact-rule-3"/>
          <p:cNvSpPr>
            <a:spLocks noGrp="1"/>
          </p:cNvSpPr>
          <p:nvPr/>
        </p:nvSpPr>
        <p:spPr>
          <a:xfrm>
            <a:off x="6343650" y="5629275"/>
            <a:ext cx="28575" cy="228600"/>
          </a:xfrm>
          <a:prstGeom prst="rect">
            <a:avLst/>
          </a:prstGeom>
          <a:solidFill>
            <a:srgbClr val="18D4FF"/>
          </a:solidFill>
          <a:ln w="0">
            <a:solidFill>
              <a:srgbClr val="18D4FF"/>
            </a:solidFill>
            <a:prstDash val="solid"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6457950" y="5610225"/>
            <a:ext cx="2238375" cy="247650"/>
          </a:xfrm>
          <a:prstGeom prst="rect">
            <a:avLst/>
          </a:prstGeom>
          <a:ln w="0">
            <a:prstDash val="solid"/>
          </a:ln>
        </p:spPr>
        <p:txBody>
          <a:bodyPr lIns="0" tIns="0" rIns="0" bIns="0" anchor="ctr"/>
          <a:lstStyle/>
          <a:p>
            <a:pPr algn="l">
              <a:defRPr sz="810" b="0">
                <a:solidFill>
                  <a:srgbClr val="F4FA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10" b="0">
                <a:solidFill>
                  <a:srgbClr val="F4FA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价值：自主能力从无人机扩展至高性能航空器</a:t>
            </a:r>
            <a:endParaRPr sz="810" b="0">
              <a:solidFill>
                <a:srgbClr val="F4FA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panel-4"/>
          <p:cNvSpPr>
            <a:spLocks noGrp="1"/>
          </p:cNvSpPr>
          <p:nvPr/>
        </p:nvSpPr>
        <p:spPr>
          <a:xfrm>
            <a:off x="9029700" y="1762125"/>
            <a:ext cx="2667000" cy="4238625"/>
          </a:xfrm>
          <a:prstGeom prst="rect">
            <a:avLst/>
          </a:prstGeom>
          <a:solidFill>
            <a:srgbClr val="0C2945"/>
          </a:solidFill>
          <a:ln w="0">
            <a:solidFill>
              <a:srgbClr val="0C2945"/>
            </a:solidFill>
            <a:prstDash val="solid"/>
          </a:ln>
        </p:spPr>
      </p:sp>
      <p:pic>
        <p:nvPicPr>
          <p:cNvPr id="45" name="图片 44"/>
          <p:cNvPicPr>
            <a:picLocks noChangeAspect="1"/>
          </p:cNvPicPr>
          <p:nvPr/>
        </p:nvPicPr>
        <p:blipFill>
          <a:blip r:embed="rId4"/>
          <a:srcRect l="4976" r="4976"/>
          <a:stretch>
            <a:fillRect/>
          </a:stretch>
        </p:blipFill>
        <p:spPr>
          <a:xfrm>
            <a:off x="9029700" y="1762125"/>
            <a:ext cx="2667000" cy="1666875"/>
          </a:xfrm>
          <a:prstGeom prst="rect">
            <a:avLst/>
          </a:prstGeom>
        </p:spPr>
      </p:pic>
      <p:sp>
        <p:nvSpPr>
          <p:cNvPr id="46" name="image-rule-4"/>
          <p:cNvSpPr>
            <a:spLocks noGrp="1"/>
          </p:cNvSpPr>
          <p:nvPr/>
        </p:nvSpPr>
        <p:spPr>
          <a:xfrm>
            <a:off x="9029700" y="3390900"/>
            <a:ext cx="2667000" cy="38100"/>
          </a:xfrm>
          <a:prstGeom prst="rect">
            <a:avLst/>
          </a:prstGeom>
          <a:solidFill>
            <a:srgbClr val="4D7CFE"/>
          </a:solidFill>
          <a:ln w="0">
            <a:solidFill>
              <a:srgbClr val="4D7CFE"/>
            </a:solidFill>
            <a:prstDash val="solid"/>
          </a:ln>
        </p:spPr>
      </p:sp>
      <p:sp>
        <p:nvSpPr>
          <p:cNvPr id="47" name="矩形 46"/>
          <p:cNvSpPr>
            <a:spLocks noGrp="1"/>
          </p:cNvSpPr>
          <p:nvPr/>
        </p:nvSpPr>
        <p:spPr>
          <a:xfrm>
            <a:off x="9182100" y="3562350"/>
            <a:ext cx="381000" cy="266700"/>
          </a:xfrm>
          <a:prstGeom prst="rect">
            <a:avLst/>
          </a:prstGeom>
          <a:ln w="0">
            <a:prstDash val="solid"/>
          </a:ln>
        </p:spPr>
        <p:txBody>
          <a:bodyPr lIns="0" tIns="0" rIns="0" bIns="0" anchor="ctr"/>
          <a:lstStyle/>
          <a:p>
            <a:pPr algn="l">
              <a:defRPr sz="1650" b="1">
                <a:solidFill>
                  <a:srgbClr val="18D4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1">
                <a:solidFill>
                  <a:srgbClr val="18D4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04</a:t>
            </a:r>
            <a:endParaRPr sz="1650" b="1">
              <a:solidFill>
                <a:srgbClr val="18D4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10687050" y="3590925"/>
            <a:ext cx="857250" cy="209550"/>
          </a:xfrm>
          <a:prstGeom prst="rect">
            <a:avLst/>
          </a:prstGeom>
          <a:ln w="0">
            <a:prstDash val="solid"/>
          </a:ln>
        </p:spPr>
        <p:txBody>
          <a:bodyPr lIns="0" tIns="0" rIns="0" bIns="0" anchor="ctr"/>
          <a:lstStyle/>
          <a:p>
            <a:pPr algn="r">
              <a:defRPr sz="825" b="0">
                <a:solidFill>
                  <a:srgbClr val="9AB2C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825" b="0">
                <a:solidFill>
                  <a:srgbClr val="9AB2C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在轨验证</a:t>
            </a:r>
            <a:endParaRPr sz="825" b="0">
              <a:solidFill>
                <a:srgbClr val="9AB2C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9182100" y="3905250"/>
            <a:ext cx="1428750" cy="228600"/>
          </a:xfrm>
          <a:prstGeom prst="rect">
            <a:avLst/>
          </a:prstGeom>
          <a:ln w="0"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8D4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18D4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星上智能</a:t>
            </a:r>
            <a:endParaRPr sz="975" b="1">
              <a:solidFill>
                <a:srgbClr val="18D4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矩形 49"/>
          <p:cNvSpPr>
            <a:spLocks noGrp="1"/>
          </p:cNvSpPr>
          <p:nvPr/>
        </p:nvSpPr>
        <p:spPr>
          <a:xfrm>
            <a:off x="9182100" y="4171950"/>
            <a:ext cx="2333625" cy="209550"/>
          </a:xfrm>
          <a:prstGeom prst="rect">
            <a:avLst/>
          </a:prstGeom>
          <a:ln w="0"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9AB2C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825" b="0">
                <a:solidFill>
                  <a:srgbClr val="9AB2C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ESA · Φsat-2</a:t>
            </a:r>
            <a:endParaRPr sz="825" b="0">
              <a:solidFill>
                <a:srgbClr val="9AB2C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1" name="矩形 50"/>
          <p:cNvSpPr>
            <a:spLocks noGrp="1"/>
          </p:cNvSpPr>
          <p:nvPr/>
        </p:nvSpPr>
        <p:spPr>
          <a:xfrm>
            <a:off x="9182100" y="4467225"/>
            <a:ext cx="2362200" cy="571500"/>
          </a:xfrm>
          <a:prstGeom prst="rect">
            <a:avLst/>
          </a:prstGeom>
          <a:ln w="0"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4FA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4FA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卫星在轨筛选影像</a:t>
            </a:r>
            <a:endParaRPr sz="1350" b="1">
              <a:solidFill>
                <a:srgbClr val="F4FA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350" b="1">
                <a:solidFill>
                  <a:srgbClr val="F4FA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4FA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只把高价值数据传回地面</a:t>
            </a:r>
            <a:endParaRPr sz="1350" b="1">
              <a:solidFill>
                <a:srgbClr val="F4FA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9182100" y="5105400"/>
            <a:ext cx="2362200" cy="447675"/>
          </a:xfrm>
          <a:prstGeom prst="rect">
            <a:avLst/>
          </a:prstGeom>
          <a:ln w="0">
            <a:prstDash val="solid"/>
          </a:ln>
        </p:spPr>
        <p:txBody>
          <a:bodyPr lIns="0" tIns="0" rIns="0" bIns="0" anchor="t"/>
          <a:lstStyle/>
          <a:p>
            <a:pPr algn="l">
              <a:defRPr sz="865" b="0">
                <a:solidFill>
                  <a:srgbClr val="C7D8E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5" b="0">
                <a:solidFill>
                  <a:srgbClr val="C7D8E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星上 AI 可执行云检测、灾害识别等应用，把遥感链路由“先下传后分析”改为边缘处理。</a:t>
            </a:r>
            <a:endParaRPr sz="865" b="0">
              <a:solidFill>
                <a:srgbClr val="C7D8E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impact-rule-4"/>
          <p:cNvSpPr>
            <a:spLocks noGrp="1"/>
          </p:cNvSpPr>
          <p:nvPr/>
        </p:nvSpPr>
        <p:spPr>
          <a:xfrm>
            <a:off x="9182100" y="5629275"/>
            <a:ext cx="28575" cy="228600"/>
          </a:xfrm>
          <a:prstGeom prst="rect">
            <a:avLst/>
          </a:prstGeom>
          <a:solidFill>
            <a:srgbClr val="18D4FF"/>
          </a:solidFill>
          <a:ln w="0">
            <a:solidFill>
              <a:srgbClr val="18D4FF"/>
            </a:solidFill>
            <a:prstDash val="solid"/>
          </a:ln>
        </p:spPr>
      </p:sp>
      <p:sp>
        <p:nvSpPr>
          <p:cNvPr id="54" name="矩形 53"/>
          <p:cNvSpPr>
            <a:spLocks noGrp="1"/>
          </p:cNvSpPr>
          <p:nvPr/>
        </p:nvSpPr>
        <p:spPr>
          <a:xfrm>
            <a:off x="9296400" y="5610225"/>
            <a:ext cx="2238375" cy="247650"/>
          </a:xfrm>
          <a:prstGeom prst="rect">
            <a:avLst/>
          </a:prstGeom>
          <a:ln w="0">
            <a:prstDash val="solid"/>
          </a:ln>
        </p:spPr>
        <p:txBody>
          <a:bodyPr lIns="0" tIns="0" rIns="0" bIns="0" anchor="ctr"/>
          <a:lstStyle/>
          <a:p>
            <a:pPr algn="l">
              <a:defRPr sz="810" b="0">
                <a:solidFill>
                  <a:srgbClr val="F4FA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10" b="0">
                <a:solidFill>
                  <a:srgbClr val="F4FA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价值：降低带宽与响应时延，形成实时遥感</a:t>
            </a:r>
            <a:endParaRPr sz="810" b="0">
              <a:solidFill>
                <a:srgbClr val="F4FA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footer-rule"/>
          <p:cNvSpPr>
            <a:spLocks noGrp="1"/>
          </p:cNvSpPr>
          <p:nvPr/>
        </p:nvSpPr>
        <p:spPr>
          <a:xfrm>
            <a:off x="514350" y="6172200"/>
            <a:ext cx="11163300" cy="9525"/>
          </a:xfrm>
          <a:prstGeom prst="rect">
            <a:avLst/>
          </a:prstGeom>
          <a:solidFill>
            <a:srgbClr val="24445F"/>
          </a:solidFill>
          <a:ln w="0">
            <a:solidFill>
              <a:srgbClr val="24445F"/>
            </a:solidFill>
            <a:prstDash val="solid"/>
          </a:ln>
        </p:spPr>
      </p:sp>
      <p:sp>
        <p:nvSpPr>
          <p:cNvPr id="56" name="矩形 55"/>
          <p:cNvSpPr>
            <a:spLocks noGrp="1"/>
          </p:cNvSpPr>
          <p:nvPr/>
        </p:nvSpPr>
        <p:spPr>
          <a:xfrm>
            <a:off x="514350" y="6286500"/>
            <a:ext cx="9858375" cy="190500"/>
          </a:xfrm>
          <a:prstGeom prst="rect">
            <a:avLst/>
          </a:prstGeom>
          <a:ln w="0"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F8C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0">
                <a:solidFill>
                  <a:srgbClr val="6F8C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来源：NASA（2026-01-30）、Honeywell Aerospace、Shield AI X-BAT、ESA Φsat-2｜后三图为概念图｜截至 2026-06</a:t>
            </a:r>
            <a:endParaRPr sz="750" b="0">
              <a:solidFill>
                <a:srgbClr val="6F8CA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矩形 56"/>
          <p:cNvSpPr>
            <a:spLocks noGrp="1"/>
          </p:cNvSpPr>
          <p:nvPr/>
        </p:nvSpPr>
        <p:spPr>
          <a:xfrm>
            <a:off x="10382250" y="6267450"/>
            <a:ext cx="1295400" cy="209550"/>
          </a:xfrm>
          <a:prstGeom prst="rect">
            <a:avLst/>
          </a:prstGeom>
          <a:ln w="0"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18D4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750" b="0">
                <a:solidFill>
                  <a:srgbClr val="18D4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04 / AI FRONTIERS</a:t>
            </a:r>
            <a:endParaRPr sz="750" b="0">
              <a:solidFill>
                <a:srgbClr val="18D4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628</Words>
  <Application>WPS 演示</Application>
  <PresentationFormat>Converted Presentation</PresentationFormat>
  <Paragraphs>74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Arial</vt:lpstr>
      <vt:lpstr>微软雅黑</vt:lpstr>
      <vt:lpstr>Arial Unicode MS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董鹰</cp:lastModifiedBy>
  <cp:revision>1</cp:revision>
  <dcterms:created xsi:type="dcterms:W3CDTF">2026-06-12T10:11:00Z</dcterms:created>
  <dcterms:modified xsi:type="dcterms:W3CDTF">2026-06-12T10:11:00Z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51B336A5A62943378D72D8D7B44FC4B7_12</vt:lpwstr>
  </property>
</Properties>
</file>