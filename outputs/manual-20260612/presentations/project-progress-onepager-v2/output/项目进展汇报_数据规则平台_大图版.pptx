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d578e76ac942ae" /><Relationship Type="http://schemas.openxmlformats.org/officeDocument/2006/relationships/extended-properties" Target="/docProps/app.xml" Id="R7529ac785bcc4f52" /><Relationship Type="http://schemas.openxmlformats.org/officeDocument/2006/relationships/officeDocument" Target="/ppt/presentation.xml" Id="Ra43c1054069d45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f14b3749214672"/>
  </p:sldMasterIdLst>
  <p:notesMasterIdLst>
    <p:notesMasterId xmlns:r="http://schemas.openxmlformats.org/officeDocument/2006/relationships" r:id="R870a3b0e926d4278"/>
  </p:notesMasterIdLst>
  <p:sldIdLst>
    <p:sldId xmlns:r="http://schemas.openxmlformats.org/officeDocument/2006/relationships" id="256" r:id="R992bde1f7e944db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fd00036bfa407e" /><Relationship Type="http://schemas.openxmlformats.org/officeDocument/2006/relationships/slideMaster" Target="/ppt/slideMasters/slideMaster1.xml" Id="Rf2f14b3749214672" /><Relationship Type="http://schemas.openxmlformats.org/officeDocument/2006/relationships/notesMaster" Target="/ppt/notesMasters/notesMaster1.xml" Id="R870a3b0e926d4278" /><Relationship Type="http://schemas.openxmlformats.org/officeDocument/2006/relationships/presProps" Target="/ppt/presProps.xml" Id="R26f6016301aa446b" /><Relationship Type="http://schemas.openxmlformats.org/officeDocument/2006/relationships/viewProps" Target="/ppt/viewProps.xml" Id="R07e1735fbe3c47ad" /><Relationship Type="http://schemas.openxmlformats.org/officeDocument/2006/relationships/tableStyles" Target="/ppt/tableStyles.xml" Id="R64ac401c1e8d42d3" /><Relationship Type="http://schemas.openxmlformats.org/officeDocument/2006/relationships/slide" Target="/ppt/slides/slide1.xml" Id="R992bde1f7e944d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0882a0fbbc49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c6d81c44444c2b" /><Relationship Type="http://schemas.openxmlformats.org/officeDocument/2006/relationships/notesMaster" Target="/ppt/notesMasters/notesMaster1.xml" Id="Rd4567acf48cd4b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1c60ae0d0a49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741c724e054f9e" /><Relationship Type="http://schemas.openxmlformats.org/officeDocument/2006/relationships/slideLayout" Target="/ppt/slideLayouts/slideLayout1.xml" Id="Rf64e50b72a4140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4e50b72a4140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087fdcef9a40da" /><Relationship Type="http://schemas.openxmlformats.org/officeDocument/2006/relationships/notesSlide" Target="/ppt/notesSlides/notesSlide1.xml" Id="R16f86ad5387043e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BC10AA-8896-44C9-A401-38A3F1C4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DD6017-6C70-4261-87A3-81322681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0">
            <a:solidFill>
              <a:srgbClr val="13223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05D2D9-12C0-458C-BA06-09C3B8EF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项目进展汇报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06FE5D-7922-4333-B750-674ACEB9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971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从分散资料到智能审查，项目已形成“数据—规则—平台”闭环基础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272DC-2F55-4D2D-B6BD-DDA761C8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数据沉淀形成规则，规则与模型共同驱动文档审查及生成。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8F41E9-7B6B-47B3-94C1-0C7BF9B6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28625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截至：____年__月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B5413C-8952-4EDC-9548-C4D24841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27241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5474FF-4402-4CAD-8B56-E1A1C154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7434DA-5C93-4992-A558-C92FE8A0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54531C-125E-421F-B37F-C365BE5F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334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4507FE-208A-41FA-AC88-71CE0265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09700"/>
            <a:ext cx="2000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规范文件 / 审查样本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BBDCDD-EABB-4ADC-BB72-DD66529B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38300"/>
            <a:ext cx="2724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8FB20A-A6C0-4D39-995A-125A4069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21920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0357C2-1AAF-488C-A69D-6C315D1C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066800"/>
            <a:ext cx="2952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EE5D4C-FCE6-4AEF-A87D-E05BA195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16205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065388-48A4-4160-AC1B-B6D592F0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162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47E241-B469-41D5-A0E0-4414C825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133475"/>
            <a:ext cx="2228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规则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78F0F9-75AC-455E-9ED3-1A643E67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409700"/>
            <a:ext cx="2228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检查单 / 规则集 / 规则库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CC8448-70EE-4562-ABC8-A59D46F5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638300"/>
            <a:ext cx="295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F8B4D7-9371-4202-A490-356695AE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21920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903FA6-E4A3-480B-838E-D0B29820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066800"/>
            <a:ext cx="44577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9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3A2A39-DFB0-4DE8-9D2C-336DB4F8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16205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6A39A"/>
          </a:solidFill>
          <a:ln xmlns:a="http://schemas.openxmlformats.org/drawingml/2006/main" w="0">
            <a:solidFill>
              <a:srgbClr val="16A39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595D3C-4249-4AB0-93E4-A8B468C5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162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9AAF87-30D3-48DE-9334-E5411988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133475"/>
            <a:ext cx="3733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文档审查与生成平台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14B39C-55B5-4439-ACFD-BC1E5CA6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409700"/>
            <a:ext cx="3733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规则约束 + 模型推理 + 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79FDCA-33BB-4F7F-B33D-B6B129CC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638300"/>
            <a:ext cx="445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9A"/>
          </a:solidFill>
          <a:ln xmlns:a="http://schemas.openxmlformats.org/drawingml/2006/main" w="0">
            <a:solidFill>
              <a:srgbClr val="16A39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ACFD33-4584-45C1-9E5E-FFB46CCC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2552700" cy="422910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D2F453-A41D-4DDB-A747-D9584775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809750"/>
            <a:ext cx="3295650" cy="422910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4E6129-0A84-4796-AA49-A6F293B1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09750"/>
            <a:ext cx="5124450" cy="4229100"/>
          </a:xfrm>
          <a:prstGeom xmlns:a="http://schemas.openxmlformats.org/drawingml/2006/main" prst="roundRect">
            <a:avLst>
              <a:gd name="adj" fmla="val 18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EF39E3-3E90-44A1-B861-3B31E70D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FE3779-1F24-4DCE-B570-D0B2FE74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621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数据底座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3E08BA-ADA5-4E23-AC93-3A5AE1B6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38375"/>
            <a:ext cx="22098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统一沉淀可审查文档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FE518D-9750-4A2B-8C1D-FF0E6173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14600"/>
            <a:ext cx="22098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4288">
            <a:solidFill>
              <a:srgbClr val="2F6BFF"/>
            </a:solidFill>
            <a:prstDash val="dash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FDB20B-A3AA-4319-9F5C-FD9A938B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54668"/>
            <a:ext cx="2209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9C80A2-D22F-4135-86BB-AEA4427A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94723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审查文档截图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DFB72F-2FBD-4FCA-8D6A-8408E274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4763"/>
            <a:ext cx="1981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建议使用典型规范文件首页或关键章节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ED5339-7359-4E15-A444-52D02387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0"/>
            <a:ext cx="2209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CAD7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4D024B-C2AE-4F47-8F07-AE5F1EBE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43450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XX 份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2FF33A-5B04-4408-A78C-5AFFA5DD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43450"/>
            <a:ext cx="1123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产品规范文件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5856B1-A1B1-4967-B730-B3588928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9675"/>
            <a:ext cx="1943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文件类型 / 覆盖范围 / 数据质量：待补充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6BBC6EA-2A46-439E-B375-D94CC4DC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0200"/>
            <a:ext cx="666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EAF0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2B54EF3-6755-4163-A52B-0812CC6C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02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分类标准化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617ABBD-E489-4C4C-96AB-109B5A78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410200"/>
            <a:ext cx="666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EAF0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225CA9D-5BED-4658-8506-5312771A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4102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样本可评测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F99FD3A-C2F7-42AD-B60A-90438976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10200"/>
            <a:ext cx="7429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EAF0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56DCB61-3CC2-416D-B1D0-5AC4BC3A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410200"/>
            <a:ext cx="590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来源可追溯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3E3B9D9-DE32-451A-B40B-64CBB3D6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812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7525139-B159-4171-BCAD-0E995925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96215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规则体系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150EC3E-9D9C-4156-A940-8466B430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38375"/>
            <a:ext cx="2952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突出展示规则集与规则库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4724446-F024-40DA-BB37-B6AA073F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14600"/>
            <a:ext cx="29527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4288">
            <a:solidFill>
              <a:srgbClr val="F59E0B"/>
            </a:solidFill>
            <a:prstDash val="dash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A143562-2139-4F02-944C-7AE43B75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21533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＋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58E08CC-C020-477E-8586-1B61F60A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16071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规则集 / 规则库截图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2049532-04F1-44DC-8712-DD8AAC90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975735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建议截取规则列表、字段结构与规则状态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C2C423A-AC5A-4098-8BE5-741166AA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95850"/>
            <a:ext cx="2952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4D9"/>
          </a:solidFill>
          <a:ln xmlns:a="http://schemas.openxmlformats.org/drawingml/2006/main" w="9525">
            <a:solidFill>
              <a:srgbClr val="F5D28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5F9548B-F0E3-45CE-8C50-C6E47E49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943475"/>
            <a:ext cx="400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9567B79-249E-4AD1-BD0D-93BB2D9A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933950"/>
            <a:ext cx="2143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条规则已完成结构化整理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B24E99F-F61F-4117-AE4A-472C0475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162550"/>
            <a:ext cx="2143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来源：XX 检查单（名称待补充）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DF1D262-A868-4EFC-8882-EA33E168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581650"/>
            <a:ext cx="8382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4D9"/>
          </a:solidFill>
          <a:ln xmlns:a="http://schemas.openxmlformats.org/drawingml/2006/main" w="0">
            <a:solidFill>
              <a:srgbClr val="FFF4D9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F7B2E16-7CB6-4C7B-8603-0B15C142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581650"/>
            <a:ext cx="685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字段统一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4007B42-83C6-4105-A88E-C0955CF8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581650"/>
            <a:ext cx="8382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4D9"/>
          </a:solidFill>
          <a:ln xmlns:a="http://schemas.openxmlformats.org/drawingml/2006/main" w="0">
            <a:solidFill>
              <a:srgbClr val="FFF4D9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8D607FD-C13A-4E2C-8251-BC7A48B3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581650"/>
            <a:ext cx="685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版本管理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50C558A-8375-4EC0-814F-EB942EA6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581650"/>
            <a:ext cx="11049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4D9"/>
          </a:solidFill>
          <a:ln xmlns:a="http://schemas.openxmlformats.org/drawingml/2006/main" w="0">
            <a:solidFill>
              <a:srgbClr val="FFF4D9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5B86E54-4DD1-41BE-AAD7-DF1EA555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81650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结果可追溯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2E5234C-CF0F-4EEB-8BB6-4968D03F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812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4150C04-764F-4E9B-9DB4-A7E94C10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62150"/>
            <a:ext cx="441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文档审查与生成平台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6F02A8D-5073-4E06-B859-2F24528C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38375"/>
            <a:ext cx="47815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界面展示为主，架构与能力点到为止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F9B0E70-8417-485F-BEA9-4E7CCA22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14600"/>
            <a:ext cx="32004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4288">
            <a:solidFill>
              <a:srgbClr val="16A39A"/>
            </a:solidFill>
            <a:prstDash val="dash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104C819-09D2-409D-87BA-39A57340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00959"/>
            <a:ext cx="3200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A3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A39A"/>
                </a:solidFill>
                <a:latin typeface="Microsoft YaHei"/>
                <a:ea typeface="Microsoft YaHei"/>
                <a:cs typeface="Microsoft YaHei"/>
              </a:rPr>
              <a:t>＋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8E229BF-8BA3-4DD1-8758-EB621D32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78733"/>
            <a:ext cx="2971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平台前端界面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2305067-C0DE-49E2-B3A0-D09227B9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26205"/>
            <a:ext cx="2971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建议截取完整工作台，并放大审查结果区域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ED89EC3-9C15-4506-B92A-F17E4B8D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514600"/>
            <a:ext cx="14478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B1728"/>
          </a:solidFill>
          <a:ln xmlns:a="http://schemas.openxmlformats.org/drawingml/2006/main" w="0">
            <a:solidFill>
              <a:srgbClr val="0B172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4A5D813-0CB6-4D93-B27A-119D2CBE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5431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GLM 5.1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DDC8566-F99C-41DE-8348-FA708A5D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771775"/>
            <a:ext cx="12573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8E0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8E0D6"/>
                </a:solidFill>
                <a:latin typeface="Microsoft YaHei"/>
                <a:ea typeface="Microsoft YaHei"/>
                <a:cs typeface="Microsoft YaHei"/>
              </a:rPr>
              <a:t>规则约束推理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15FAE29-D65E-4483-A8BD-83EB18E7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048000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平台架构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134CE34-7500-46CF-AF41-42121358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257550"/>
            <a:ext cx="14478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3F6F3"/>
          </a:solidFill>
          <a:ln xmlns:a="http://schemas.openxmlformats.org/drawingml/2006/main" w="9525">
            <a:solidFill>
              <a:srgbClr val="A8DDD7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819F097-1052-4C6D-8092-560748C9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5755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交互层</a:t>
            </a:r>
          </a:p>
          <a:p xmlns:a="http://schemas.openxmlformats.org/drawingml/2006/main">
            <a:pPr algn="ctr">
              <a:defRPr sz="6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上传 · 审查 · 生成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5FCF85A-5129-4F7A-AF72-981F2E94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619500"/>
            <a:ext cx="1447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6A3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6A39A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350077D-FB3F-434E-A9A9-6DFCBF9B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771900"/>
            <a:ext cx="14478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9525">
            <a:solidFill>
              <a:srgbClr val="B8D7F2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A0E8F81-2B17-4098-A21F-95F0ABC3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77190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应用编排层</a:t>
            </a:r>
          </a:p>
          <a:p xmlns:a="http://schemas.openxmlformats.org/drawingml/2006/main">
            <a:pPr algn="ctr">
              <a:defRPr sz="6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任务流 · 权限 · 结果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68C2178-0B7C-4375-9FDB-F73BEBB7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133850"/>
            <a:ext cx="1447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C58129B-D525-47EC-8AA8-247836EB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286250"/>
            <a:ext cx="14478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4D9"/>
          </a:solidFill>
          <a:ln xmlns:a="http://schemas.openxmlformats.org/drawingml/2006/main" w="9525">
            <a:solidFill>
              <a:srgbClr val="F5D28B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76317F1-DA90-483B-A6DC-8409BD73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2862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智能与知识层</a:t>
            </a:r>
          </a:p>
          <a:p xmlns:a="http://schemas.openxmlformats.org/drawingml/2006/main">
            <a:pPr algn="ctr">
              <a:defRPr sz="6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规则库 + 模型 + 文档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FB87F22-69E7-4439-8CA5-66DD1C49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83870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文档生成能力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3471FB5-1A1B-4AF1-AA5F-053C5EBB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38700"/>
            <a:ext cx="3562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不展开复杂定义，用能力链说明范围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B94CE7D-50F6-4F98-8733-B33DC5FD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124450"/>
            <a:ext cx="13525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3F6F3"/>
          </a:solidFill>
          <a:ln xmlns:a="http://schemas.openxmlformats.org/drawingml/2006/main" w="9525">
            <a:solidFill>
              <a:srgbClr val="A8DDD7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22AC8B0-6148-46DF-9DCE-84AA3C80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153025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① 选择模板与输入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80E9FAB-179D-4671-B89B-6D23CB3E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381625"/>
            <a:ext cx="1162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结构 / 章节 / 已知信息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896451F-6C4D-42FD-AA0E-953C9EA1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248275"/>
            <a:ext cx="28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A3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A39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DEBE541-D3EE-4DCE-8175-60294CD4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124450"/>
            <a:ext cx="13525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9525">
            <a:solidFill>
              <a:srgbClr val="B8D7F2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E2E5DE8-030B-47A6-A17C-84DAE9F7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153025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② 规则 + 模型生成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13D7ADC-752B-486D-BEAC-ECE5CB38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381625"/>
            <a:ext cx="1162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生成草稿 / 补全内容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8007C80-1D47-4DF0-9789-5EF74C3D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248275"/>
            <a:ext cx="28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A3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A39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6E7ED9D-4C37-478A-B83E-B383BFB0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124450"/>
            <a:ext cx="1428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4D9"/>
          </a:solidFill>
          <a:ln xmlns:a="http://schemas.openxmlformats.org/drawingml/2006/main" w="9525">
            <a:solidFill>
              <a:srgbClr val="F5D28B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9C12A2E-6F1C-4D21-A8AE-765255B9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1530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③ 人工确认与导出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C2C1C75-5F0D-4D40-898E-16E56C52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381625"/>
            <a:ext cx="1238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复核 / 修订 / 留痕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68636D7-493F-4DFB-A1AB-BE34326B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676900"/>
            <a:ext cx="9525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3F6F3"/>
          </a:solidFill>
          <a:ln xmlns:a="http://schemas.openxmlformats.org/drawingml/2006/main" w="0">
            <a:solidFill>
              <a:srgbClr val="E3F6F3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0FB024B-39EA-4DDD-A4C0-BAD6ED91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676900"/>
            <a:ext cx="800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16A39A"/>
                </a:solidFill>
                <a:latin typeface="Microsoft YaHei"/>
                <a:ea typeface="Microsoft YaHei"/>
                <a:cs typeface="Microsoft YaHei"/>
              </a:rPr>
              <a:t>规则可配置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53565D7-FAED-42BC-9A56-7C024171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676900"/>
            <a:ext cx="9525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3F6F3"/>
          </a:solidFill>
          <a:ln xmlns:a="http://schemas.openxmlformats.org/drawingml/2006/main" w="0">
            <a:solidFill>
              <a:srgbClr val="E3F6F3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A4FCE74-F880-4D31-B675-E4FA00F5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676900"/>
            <a:ext cx="800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16A39A"/>
                </a:solidFill>
                <a:latin typeface="Microsoft YaHei"/>
                <a:ea typeface="Microsoft YaHei"/>
                <a:cs typeface="Microsoft YaHei"/>
              </a:rPr>
              <a:t>结果可定位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4147243-4A4F-4B2E-862F-1AEBBBCA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676900"/>
            <a:ext cx="9525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3F6F3"/>
          </a:solidFill>
          <a:ln xmlns:a="http://schemas.openxmlformats.org/drawingml/2006/main" w="0">
            <a:solidFill>
              <a:srgbClr val="E3F6F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CC2238C-2EEC-4777-B7C6-E187915C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676900"/>
            <a:ext cx="800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16A39A"/>
                </a:solidFill>
                <a:latin typeface="Microsoft YaHei"/>
                <a:ea typeface="Microsoft YaHei"/>
                <a:cs typeface="Microsoft YaHei"/>
              </a:rPr>
              <a:t>过程可追溯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78A6E5C-6F55-43B0-9832-902BA222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676900"/>
            <a:ext cx="9525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3F6F3"/>
          </a:solidFill>
          <a:ln xmlns:a="http://schemas.openxmlformats.org/drawingml/2006/main" w="0">
            <a:solidFill>
              <a:srgbClr val="E3F6F3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787B5EB-C92B-447D-B801-251FC3A8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676900"/>
            <a:ext cx="800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16A39A"/>
                </a:solidFill>
                <a:latin typeface="Microsoft YaHei"/>
                <a:ea typeface="Microsoft YaHei"/>
                <a:cs typeface="Microsoft YaHei"/>
              </a:rPr>
              <a:t>人工可干预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C711C94-5467-4695-8271-17D1DABF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12776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2238"/>
          </a:solidFill>
          <a:ln xmlns:a="http://schemas.openxmlformats.org/drawingml/2006/main" w="0">
            <a:solidFill>
              <a:srgbClr val="132238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06A4B53-430C-48CE-BA36-D09C05E4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72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39D98A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087BFBF-9B00-4F5B-9AA7-722E5B64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当前进展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92C35DA-492F-4DBA-A5D1-DE57B274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6286500"/>
            <a:ext cx="9696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9E3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9E3EF"/>
                </a:solidFill>
                <a:latin typeface="Microsoft YaHei"/>
                <a:ea typeface="Microsoft YaHei"/>
                <a:cs typeface="Microsoft YaHei"/>
              </a:rPr>
              <a:t>【请替换】已完成：__________ ｜ 进行中：__________ ｜ 下一步：__________ ｜ 预计时间：__________</a:t>
            </a:r>
          </a:p>
        </p:txBody>
      </p:sp>
    </p:spTree>
    <p:extLst>
      <p:ext uri="{BB962C8B-B14F-4D97-AF65-F5344CB8AC3E}">
        <p14:creationId xmlns:p14="http://schemas.microsoft.com/office/powerpoint/2010/main" val="9621869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2026-06-12T07:38:07.1830000Z</dcterms:created>
  <dcterms:modified xsi:type="dcterms:W3CDTF">2026-06-12T07:38:07.1830000Z</dcterms:modified>
</coreProperties>
</file>