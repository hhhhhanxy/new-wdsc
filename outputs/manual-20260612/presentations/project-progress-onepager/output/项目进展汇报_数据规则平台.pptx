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2238"/>
          </a:solidFill>
          <a:ln w="0">
            <a:solidFill>
              <a:srgbClr val="13223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2095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项目进展汇报</a:t>
            </a:r>
            <a:endParaRPr sz="900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438150"/>
            <a:ext cx="962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1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从分散资料到智能审查，项目已形成“数据—规则—平台”闭环基础</a:t>
            </a:r>
            <a:endParaRPr sz="21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847725"/>
            <a:ext cx="9048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围绕规范数据沉淀、审查规则结构化与文档审查/生成平台建设，逐步形成可复用能力。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0" y="4381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截至：____年__月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7200" y="120015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2F6BFF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571500" y="1314450"/>
            <a:ext cx="400050" cy="438150"/>
          </a:xfrm>
          <a:prstGeom prst="roundRect">
            <a:avLst>
              <a:gd name="adj" fmla="val 19048"/>
            </a:avLst>
          </a:prstGeom>
          <a:solidFill>
            <a:srgbClr val="2F6BFF"/>
          </a:solidFill>
          <a:ln w="9525">
            <a:solidFill>
              <a:srgbClr val="2F6B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314450"/>
            <a:ext cx="400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1266825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4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04900" y="15430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产品规范 / 技术文档 / 审查样本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7200" y="1828800"/>
            <a:ext cx="2857500" cy="38100"/>
          </a:xfrm>
          <a:prstGeom prst="rect">
            <a:avLst/>
          </a:prstGeom>
          <a:solidFill>
            <a:srgbClr val="2F6BFF"/>
          </a:solidFill>
          <a:ln w="0">
            <a:solidFill>
              <a:srgbClr val="2F6B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371850" y="1352550"/>
            <a:ext cx="419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848100" y="120015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3962400" y="1314450"/>
            <a:ext cx="400050" cy="438150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962400" y="1314450"/>
            <a:ext cx="400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95800" y="1266825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</a:t>
            </a:r>
            <a:endParaRPr sz="14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495800" y="15430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检查单解析 / 规则集 / 规则库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848100" y="1828800"/>
            <a:ext cx="28575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762750" y="1352550"/>
            <a:ext cx="419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239000" y="1200150"/>
            <a:ext cx="44958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16A39A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7353300" y="1314450"/>
            <a:ext cx="400050" cy="438150"/>
          </a:xfrm>
          <a:prstGeom prst="roundRect">
            <a:avLst>
              <a:gd name="adj" fmla="val 19048"/>
            </a:avLst>
          </a:prstGeom>
          <a:solidFill>
            <a:srgbClr val="16A39A"/>
          </a:solidFill>
          <a:ln w="9525">
            <a:solidFill>
              <a:srgbClr val="16A39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353300" y="1314450"/>
            <a:ext cx="400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86700" y="1266825"/>
            <a:ext cx="3733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文档审查与生成平台</a:t>
            </a:r>
            <a:endParaRPr sz="14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86700" y="1543050"/>
            <a:ext cx="3733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规则驱动 + 大模型推理 + 人机协同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239000" y="1828800"/>
            <a:ext cx="4495800" cy="38100"/>
          </a:xfrm>
          <a:prstGeom prst="rect">
            <a:avLst/>
          </a:prstGeom>
          <a:solidFill>
            <a:srgbClr val="16A39A"/>
          </a:solidFill>
          <a:ln w="0">
            <a:solidFill>
              <a:srgbClr val="16A39A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457200" y="2076450"/>
            <a:ext cx="2857500" cy="4000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3505200" y="2076450"/>
            <a:ext cx="3200400" cy="40005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6896100" y="2076450"/>
            <a:ext cx="4838700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28650" y="2266950"/>
            <a:ext cx="266700" cy="2286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90600" y="2247900"/>
            <a:ext cx="2152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数据底座</a:t>
            </a:r>
            <a:endParaRPr sz="13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28650" y="25336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汇聚可审查文档，形成统一输入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28650" y="2819400"/>
            <a:ext cx="2514600" cy="1600200"/>
          </a:xfrm>
          <a:prstGeom prst="roundRect">
            <a:avLst>
              <a:gd name="adj" fmla="val 4762"/>
            </a:avLst>
          </a:prstGeom>
          <a:solidFill>
            <a:srgbClr val="FAFBFD"/>
          </a:solidFill>
          <a:ln w="13335">
            <a:solidFill>
              <a:srgbClr val="2F6BFF"/>
            </a:solidFill>
            <a:prstDash val="dash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628650" y="4572000"/>
            <a:ext cx="2514600" cy="628650"/>
          </a:xfrm>
          <a:prstGeom prst="roundRect">
            <a:avLst>
              <a:gd name="adj" fmla="val 12121"/>
            </a:avLst>
          </a:prstGeom>
          <a:solidFill>
            <a:srgbClr val="EAF0FF"/>
          </a:solidFill>
          <a:ln w="9525">
            <a:solidFill>
              <a:srgbClr val="CAD7FF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81050" y="4610100"/>
            <a:ext cx="80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 份</a:t>
            </a:r>
            <a:endParaRPr sz="1725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657350" y="4610100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产品规范文件</a:t>
            </a:r>
            <a:endParaRPr sz="10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81050" y="4914900"/>
            <a:ext cx="2171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覆盖范围 / 文件类型 / 数据质量：待补充</a:t>
            </a:r>
            <a:endParaRPr sz="7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椭圆 40"/>
          <p:cNvSpPr>
            <a:spLocks noGrp="1"/>
          </p:cNvSpPr>
          <p:nvPr/>
        </p:nvSpPr>
        <p:spPr>
          <a:xfrm>
            <a:off x="685800" y="5381625"/>
            <a:ext cx="57150" cy="57150"/>
          </a:xfrm>
          <a:prstGeom prst="ellipse">
            <a:avLst/>
          </a:prstGeom>
          <a:solidFill>
            <a:srgbClr val="2F6BFF"/>
          </a:solidFill>
          <a:ln w="0">
            <a:solidFill>
              <a:srgbClr val="2F6BF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19150" y="531495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文档分类与元数据标准化</a:t>
            </a:r>
            <a:endParaRPr sz="975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椭圆 42"/>
          <p:cNvSpPr>
            <a:spLocks noGrp="1"/>
          </p:cNvSpPr>
          <p:nvPr/>
        </p:nvSpPr>
        <p:spPr>
          <a:xfrm>
            <a:off x="685800" y="5629275"/>
            <a:ext cx="57150" cy="57150"/>
          </a:xfrm>
          <a:prstGeom prst="ellipse">
            <a:avLst/>
          </a:prstGeom>
          <a:solidFill>
            <a:srgbClr val="2F6BFF"/>
          </a:solidFill>
          <a:ln w="0">
            <a:solidFill>
              <a:srgbClr val="2F6BFF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19150" y="556260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为规则验证与模型评测提供样本</a:t>
            </a:r>
            <a:endParaRPr sz="975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676650" y="2266950"/>
            <a:ext cx="266700" cy="2286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038600" y="22479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规则体系</a:t>
            </a:r>
            <a:endParaRPr sz="13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676650" y="25336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将检查经验转化为可执行规则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3676650" y="2819400"/>
            <a:ext cx="1352550" cy="1066800"/>
          </a:xfrm>
          <a:prstGeom prst="roundRect">
            <a:avLst>
              <a:gd name="adj" fmla="val 7143"/>
            </a:avLst>
          </a:prstGeom>
          <a:solidFill>
            <a:srgbClr val="FAFBFD"/>
          </a:solidFill>
          <a:ln w="13335">
            <a:solidFill>
              <a:srgbClr val="F59E0B"/>
            </a:solidFill>
            <a:prstDash val="dash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3676650" y="3011424"/>
            <a:ext cx="1352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</a:t>
            </a:r>
            <a:endParaRPr sz="18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3771900" y="3331464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检查单文件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5181600" y="2819400"/>
            <a:ext cx="1352550" cy="1066800"/>
          </a:xfrm>
          <a:prstGeom prst="roundRect">
            <a:avLst>
              <a:gd name="adj" fmla="val 7143"/>
            </a:avLst>
          </a:prstGeom>
          <a:solidFill>
            <a:srgbClr val="FAFBFD"/>
          </a:solidFill>
          <a:ln w="13335">
            <a:solidFill>
              <a:srgbClr val="F59E0B"/>
            </a:solidFill>
            <a:prstDash val="dash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5181600" y="3011424"/>
            <a:ext cx="1352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</a:t>
            </a:r>
            <a:endParaRPr sz="18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5276850" y="3331464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规则集 / 规则库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3676650" y="4038600"/>
            <a:ext cx="2857500" cy="714375"/>
          </a:xfrm>
          <a:prstGeom prst="roundRect">
            <a:avLst>
              <a:gd name="adj" fmla="val 10667"/>
            </a:avLst>
          </a:prstGeom>
          <a:solidFill>
            <a:srgbClr val="FFF4D9"/>
          </a:solidFill>
          <a:ln w="9525">
            <a:solidFill>
              <a:srgbClr val="F5D28B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3848100" y="4133850"/>
            <a:ext cx="438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2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4400550" y="4114800"/>
            <a:ext cx="19812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个规则已完成结构化整理</a:t>
            </a:r>
            <a:endParaRPr sz="10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400550" y="4371975"/>
            <a:ext cx="1981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来源：XX 检查单（名称待补充）</a:t>
            </a:r>
            <a:endParaRPr sz="8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椭圆 57"/>
          <p:cNvSpPr>
            <a:spLocks noGrp="1"/>
          </p:cNvSpPr>
          <p:nvPr/>
        </p:nvSpPr>
        <p:spPr>
          <a:xfrm>
            <a:off x="3733800" y="4981575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3867150" y="491490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规则字段统一：对象、条件、结论、依据</a:t>
            </a:r>
            <a:endParaRPr sz="975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椭圆 59"/>
          <p:cNvSpPr>
            <a:spLocks noGrp="1"/>
          </p:cNvSpPr>
          <p:nvPr/>
        </p:nvSpPr>
        <p:spPr>
          <a:xfrm>
            <a:off x="3733800" y="5229225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3867150" y="516255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支持规则版本管理与规则集组合</a:t>
            </a:r>
            <a:endParaRPr sz="975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椭圆 61"/>
          <p:cNvSpPr>
            <a:spLocks noGrp="1"/>
          </p:cNvSpPr>
          <p:nvPr/>
        </p:nvSpPr>
        <p:spPr>
          <a:xfrm>
            <a:off x="3733800" y="5476875"/>
            <a:ext cx="57150" cy="5715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3867150" y="541020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规则执行结果可定位、可解释、可追溯</a:t>
            </a:r>
            <a:endParaRPr sz="975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7067550" y="2266950"/>
            <a:ext cx="266700" cy="228600"/>
          </a:xfrm>
          <a:prstGeom prst="rect">
            <a:avLst/>
          </a:prstGeom>
          <a:solidFill>
            <a:srgbClr val="16A3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7429500" y="2247900"/>
            <a:ext cx="413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文档审查与生成平台</a:t>
            </a:r>
            <a:endParaRPr sz="13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067550" y="2533650"/>
            <a:ext cx="449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以规则约束模型，以模型提升审查与生成效率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7067550" y="2819400"/>
            <a:ext cx="2038350" cy="1428750"/>
          </a:xfrm>
          <a:prstGeom prst="roundRect">
            <a:avLst>
              <a:gd name="adj" fmla="val 5333"/>
            </a:avLst>
          </a:prstGeom>
          <a:solidFill>
            <a:srgbClr val="FAFBFD"/>
          </a:solidFill>
          <a:ln w="13335">
            <a:solidFill>
              <a:srgbClr val="16A39A"/>
            </a:solidFill>
            <a:prstDash val="dash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7067550" y="3076575"/>
            <a:ext cx="2038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16A3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6A3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</a:t>
            </a:r>
            <a:endParaRPr sz="1800" b="1">
              <a:solidFill>
                <a:srgbClr val="16A3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7162800" y="3505200"/>
            <a:ext cx="1847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替换为：平台前端界面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7067550" y="4381500"/>
            <a:ext cx="2038350" cy="495300"/>
          </a:xfrm>
          <a:prstGeom prst="roundRect">
            <a:avLst>
              <a:gd name="adj" fmla="val 15385"/>
            </a:avLst>
          </a:prstGeom>
          <a:solidFill>
            <a:srgbClr val="0B1728"/>
          </a:solidFill>
          <a:ln w="9525">
            <a:solidFill>
              <a:srgbClr val="0B1728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7200900" y="4429125"/>
            <a:ext cx="685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0">
                <a:solidFill>
                  <a:srgbClr val="AFC0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AFC0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使用模型</a:t>
            </a:r>
            <a:endParaRPr sz="675" b="0">
              <a:solidFill>
                <a:srgbClr val="AFC0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7200900" y="457200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5.1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8172450" y="45720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750" b="1">
                <a:solidFill>
                  <a:srgbClr val="78E0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78E0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规则约束推理</a:t>
            </a:r>
            <a:endParaRPr sz="750" b="1">
              <a:solidFill>
                <a:srgbClr val="78E0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椭圆 73"/>
          <p:cNvSpPr>
            <a:spLocks noGrp="1"/>
          </p:cNvSpPr>
          <p:nvPr/>
        </p:nvSpPr>
        <p:spPr>
          <a:xfrm>
            <a:off x="7124700" y="5076825"/>
            <a:ext cx="57150" cy="57150"/>
          </a:xfrm>
          <a:prstGeom prst="ellipse">
            <a:avLst/>
          </a:prstGeom>
          <a:solidFill>
            <a:srgbClr val="16A39A"/>
          </a:solidFill>
          <a:ln w="0">
            <a:solidFill>
              <a:srgbClr val="16A39A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7258050" y="501015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审查结果定位与依据展示</a:t>
            </a:r>
            <a:endParaRPr sz="975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椭圆 75"/>
          <p:cNvSpPr>
            <a:spLocks noGrp="1"/>
          </p:cNvSpPr>
          <p:nvPr/>
        </p:nvSpPr>
        <p:spPr>
          <a:xfrm>
            <a:off x="7124700" y="5324475"/>
            <a:ext cx="57150" cy="57150"/>
          </a:xfrm>
          <a:prstGeom prst="ellipse">
            <a:avLst/>
          </a:prstGeom>
          <a:solidFill>
            <a:srgbClr val="16A39A"/>
          </a:solidFill>
          <a:ln w="0">
            <a:solidFill>
              <a:srgbClr val="16A39A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7258050" y="525780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支持文档审查与内容生成</a:t>
            </a:r>
            <a:endParaRPr sz="975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椭圆 77"/>
          <p:cNvSpPr>
            <a:spLocks noGrp="1"/>
          </p:cNvSpPr>
          <p:nvPr/>
        </p:nvSpPr>
        <p:spPr>
          <a:xfrm>
            <a:off x="7124700" y="5572125"/>
            <a:ext cx="57150" cy="57150"/>
          </a:xfrm>
          <a:prstGeom prst="ellipse">
            <a:avLst/>
          </a:prstGeom>
          <a:solidFill>
            <a:srgbClr val="16A39A"/>
          </a:solidFill>
          <a:ln w="0">
            <a:solidFill>
              <a:srgbClr val="16A39A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7258050" y="550545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保留人工复核与反馈闭环</a:t>
            </a:r>
            <a:endParaRPr sz="975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9296400" y="278130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平台架构</a:t>
            </a:r>
            <a:endParaRPr sz="9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9296400" y="3086100"/>
            <a:ext cx="2266950" cy="438150"/>
          </a:xfrm>
          <a:prstGeom prst="roundRect">
            <a:avLst>
              <a:gd name="adj" fmla="val 17391"/>
            </a:avLst>
          </a:prstGeom>
          <a:solidFill>
            <a:srgbClr val="E3F6F3"/>
          </a:solidFill>
          <a:ln w="9525">
            <a:solidFill>
              <a:srgbClr val="A8DDD7"/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9410700" y="3086100"/>
            <a:ext cx="2038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交互层｜上传 · 审查 · 生成 · 报告</a:t>
            </a:r>
            <a:endParaRPr sz="9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9296400" y="352425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6A3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6A3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1125" b="1">
              <a:solidFill>
                <a:srgbClr val="16A3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9296400" y="3714750"/>
            <a:ext cx="2266950" cy="438150"/>
          </a:xfrm>
          <a:prstGeom prst="roundRect">
            <a:avLst>
              <a:gd name="adj" fmla="val 17391"/>
            </a:avLst>
          </a:prstGeom>
          <a:solidFill>
            <a:srgbClr val="EFF8FF"/>
          </a:solidFill>
          <a:ln w="9525">
            <a:solidFill>
              <a:srgbClr val="B8D7F2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9410700" y="3714750"/>
            <a:ext cx="2038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应用编排层｜任务流 · 权限 · 结果管理</a:t>
            </a:r>
            <a:endParaRPr sz="9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296400" y="415290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1125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9296400" y="4343400"/>
            <a:ext cx="2266950" cy="523875"/>
          </a:xfrm>
          <a:prstGeom prst="roundRect">
            <a:avLst>
              <a:gd name="adj" fmla="val 14545"/>
            </a:avLst>
          </a:prstGeom>
          <a:solidFill>
            <a:srgbClr val="FFF4D9"/>
          </a:solidFill>
          <a:ln w="9525">
            <a:solidFill>
              <a:srgbClr val="F5D28B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9391650" y="4343400"/>
            <a:ext cx="20764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智能引擎层｜规则执行 + GLM 5.1</a:t>
            </a:r>
            <a:endParaRPr sz="8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检索增强 · 提示编排 · 结果融合</a:t>
            </a:r>
            <a:endParaRPr sz="8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9296400" y="4867275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9296400" y="5057775"/>
            <a:ext cx="2266950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9391650" y="5057775"/>
            <a:ext cx="20764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知识与数据层｜规范文档 · 检查单</a:t>
            </a:r>
            <a:endParaRPr sz="8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规则库 · 审查记录 · 生成模板</a:t>
            </a:r>
            <a:endParaRPr sz="8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9296400" y="5657850"/>
            <a:ext cx="2266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6A3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6A3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特点：规则可配置｜过程可追溯｜能力可扩展</a:t>
            </a:r>
            <a:endParaRPr sz="825" b="1">
              <a:solidFill>
                <a:srgbClr val="16A3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457200" y="6172200"/>
            <a:ext cx="11277600" cy="476250"/>
          </a:xfrm>
          <a:prstGeom prst="roundRect">
            <a:avLst>
              <a:gd name="adj" fmla="val 16000"/>
            </a:avLst>
          </a:prstGeom>
          <a:solidFill>
            <a:srgbClr val="132238"/>
          </a:solidFill>
          <a:ln w="9525">
            <a:solidFill>
              <a:srgbClr val="132238"/>
            </a:solidFill>
            <a:prstDash val="solid"/>
          </a:ln>
        </p:spPr>
      </p:sp>
      <p:sp>
        <p:nvSpPr>
          <p:cNvPr id="94" name="椭圆 93"/>
          <p:cNvSpPr>
            <a:spLocks noGrp="1"/>
          </p:cNvSpPr>
          <p:nvPr/>
        </p:nvSpPr>
        <p:spPr>
          <a:xfrm>
            <a:off x="628650" y="6362700"/>
            <a:ext cx="95250" cy="95250"/>
          </a:xfrm>
          <a:prstGeom prst="ellipse">
            <a:avLst/>
          </a:prstGeom>
          <a:solidFill>
            <a:srgbClr val="39D98A"/>
          </a:solidFill>
          <a:ln w="0">
            <a:solidFill>
              <a:srgbClr val="39D98A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838200" y="6257925"/>
            <a:ext cx="838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790700" y="6257925"/>
            <a:ext cx="9696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D9E3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D9E3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【请替换】已完成：__________ ｜ 进行中：__________ ｜ 下一步：__________ ｜ 预计时间：__________</a:t>
            </a:r>
            <a:endParaRPr sz="975" b="0">
              <a:solidFill>
                <a:srgbClr val="D9E3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WPS 演示</Application>
  <PresentationFormat>Converted Presentation</PresentationFormat>
  <Paragraphs>118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董鹰</cp:lastModifiedBy>
  <cp:revision>1</cp:revision>
  <dcterms:created xsi:type="dcterms:W3CDTF">2026-06-12T10:10:57Z</dcterms:created>
  <dcterms:modified xsi:type="dcterms:W3CDTF">2026-06-12T10:10:57Z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E7506F080DF349CEAF3B98CB9F257953_12</vt:lpwstr>
  </property>
</Properties>
</file>